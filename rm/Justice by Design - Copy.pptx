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70" r:id="rId10"/>
    <p:sldId id="264" r:id="rId11"/>
    <p:sldId id="265" r:id="rId12"/>
    <p:sldId id="266" r:id="rId13"/>
    <p:sldId id="267" r:id="rId14"/>
    <p:sldId id="268" r:id="rId15"/>
    <p:sldId id="269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535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92" autoAdjust="0"/>
    <p:restoredTop sz="94660"/>
  </p:normalViewPr>
  <p:slideViewPr>
    <p:cSldViewPr snapToGrid="0">
      <p:cViewPr varScale="1">
        <p:scale>
          <a:sx n="95" d="100"/>
          <a:sy n="95" d="100"/>
        </p:scale>
        <p:origin x="121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10" Type="http://schemas.openxmlformats.org/officeDocument/2006/relationships/image" Target="../media/image35.svg"/><Relationship Id="rId4" Type="http://schemas.openxmlformats.org/officeDocument/2006/relationships/image" Target="../media/image29.svg"/><Relationship Id="rId9" Type="http://schemas.openxmlformats.org/officeDocument/2006/relationships/image" Target="../media/image34.pn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10" Type="http://schemas.openxmlformats.org/officeDocument/2006/relationships/image" Target="../media/image35.svg"/><Relationship Id="rId4" Type="http://schemas.openxmlformats.org/officeDocument/2006/relationships/image" Target="../media/image29.svg"/><Relationship Id="rId9" Type="http://schemas.openxmlformats.org/officeDocument/2006/relationships/image" Target="../media/image34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08DC895-B7CE-47CD-9A65-8B4B5B4060E1}" type="doc">
      <dgm:prSet loTypeId="urn:microsoft.com/office/officeart/2005/8/layout/vProcess5" loCatId="process" qsTypeId="urn:microsoft.com/office/officeart/2005/8/quickstyle/simple2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0E35E4C0-8C6B-4414-9774-3DCCBD729686}">
      <dgm:prSet/>
      <dgm:spPr/>
      <dgm:t>
        <a:bodyPr/>
        <a:lstStyle/>
        <a:p>
          <a:r>
            <a:rPr lang="en-US"/>
            <a:t>Design: Qualitative synthesis + framework analysis</a:t>
          </a:r>
        </a:p>
      </dgm:t>
    </dgm:pt>
    <dgm:pt modelId="{444C4D77-588C-4F70-8B5C-7F0BD411091D}" type="parTrans" cxnId="{9F3E7E0D-7F13-4486-BC89-914614EAB7CE}">
      <dgm:prSet/>
      <dgm:spPr/>
      <dgm:t>
        <a:bodyPr/>
        <a:lstStyle/>
        <a:p>
          <a:endParaRPr lang="en-US"/>
        </a:p>
      </dgm:t>
    </dgm:pt>
    <dgm:pt modelId="{EC8DFEA5-40A9-4F65-AA57-4560DA340774}" type="sibTrans" cxnId="{9F3E7E0D-7F13-4486-BC89-914614EAB7CE}">
      <dgm:prSet/>
      <dgm:spPr/>
      <dgm:t>
        <a:bodyPr/>
        <a:lstStyle/>
        <a:p>
          <a:endParaRPr lang="en-US"/>
        </a:p>
      </dgm:t>
    </dgm:pt>
    <dgm:pt modelId="{97775F38-DD19-41D0-AFF7-8A0D7997BE84}">
      <dgm:prSet/>
      <dgm:spPr/>
      <dgm:t>
        <a:bodyPr/>
        <a:lstStyle/>
        <a:p>
          <a:r>
            <a:rPr lang="en-US"/>
            <a:t>Data: secondary sources, public datasets(e.g. COMPAS)</a:t>
          </a:r>
        </a:p>
      </dgm:t>
    </dgm:pt>
    <dgm:pt modelId="{CCA4A943-C9FF-437E-B0ED-84B0EC92EB2A}" type="parTrans" cxnId="{57ADEC30-6A2D-4AC1-A4BF-8A9B3958FDB4}">
      <dgm:prSet/>
      <dgm:spPr/>
      <dgm:t>
        <a:bodyPr/>
        <a:lstStyle/>
        <a:p>
          <a:endParaRPr lang="en-US"/>
        </a:p>
      </dgm:t>
    </dgm:pt>
    <dgm:pt modelId="{9ED22752-6F6B-4FD4-81E4-18F6D156F92B}" type="sibTrans" cxnId="{57ADEC30-6A2D-4AC1-A4BF-8A9B3958FDB4}">
      <dgm:prSet/>
      <dgm:spPr/>
      <dgm:t>
        <a:bodyPr/>
        <a:lstStyle/>
        <a:p>
          <a:endParaRPr lang="en-US"/>
        </a:p>
      </dgm:t>
    </dgm:pt>
    <dgm:pt modelId="{30238797-1BB3-47E4-8977-B9CCE050F641}">
      <dgm:prSet/>
      <dgm:spPr/>
      <dgm:t>
        <a:bodyPr/>
        <a:lstStyle/>
        <a:p>
          <a:r>
            <a:rPr lang="en-US"/>
            <a:t>Analysis: compare ML profiling to FAT/AI (fairness, accountability, transparency)</a:t>
          </a:r>
        </a:p>
      </dgm:t>
    </dgm:pt>
    <dgm:pt modelId="{96C7A616-75F7-41B9-8194-E5729F0A007B}" type="parTrans" cxnId="{6ECF1E64-DCDC-42B8-98A3-2C72BE944BF1}">
      <dgm:prSet/>
      <dgm:spPr/>
      <dgm:t>
        <a:bodyPr/>
        <a:lstStyle/>
        <a:p>
          <a:endParaRPr lang="en-US"/>
        </a:p>
      </dgm:t>
    </dgm:pt>
    <dgm:pt modelId="{E2CF9DD0-1EFF-4849-B6FD-D29C25AFD18F}" type="sibTrans" cxnId="{6ECF1E64-DCDC-42B8-98A3-2C72BE944BF1}">
      <dgm:prSet/>
      <dgm:spPr/>
      <dgm:t>
        <a:bodyPr/>
        <a:lstStyle/>
        <a:p>
          <a:endParaRPr lang="en-US"/>
        </a:p>
      </dgm:t>
    </dgm:pt>
    <dgm:pt modelId="{EE3E35F1-DEB8-48D8-93EE-A2317FBAB6BD}" type="pres">
      <dgm:prSet presAssocID="{A08DC895-B7CE-47CD-9A65-8B4B5B4060E1}" presName="outerComposite" presStyleCnt="0">
        <dgm:presLayoutVars>
          <dgm:chMax val="5"/>
          <dgm:dir/>
          <dgm:resizeHandles val="exact"/>
        </dgm:presLayoutVars>
      </dgm:prSet>
      <dgm:spPr/>
    </dgm:pt>
    <dgm:pt modelId="{480C65FC-F5C0-446A-8C04-7A2C332FF96F}" type="pres">
      <dgm:prSet presAssocID="{A08DC895-B7CE-47CD-9A65-8B4B5B4060E1}" presName="dummyMaxCanvas" presStyleCnt="0">
        <dgm:presLayoutVars/>
      </dgm:prSet>
      <dgm:spPr/>
    </dgm:pt>
    <dgm:pt modelId="{65AD1A32-5229-4A1D-AB05-32BF55B0D1F6}" type="pres">
      <dgm:prSet presAssocID="{A08DC895-B7CE-47CD-9A65-8B4B5B4060E1}" presName="ThreeNodes_1" presStyleLbl="node1" presStyleIdx="0" presStyleCnt="3">
        <dgm:presLayoutVars>
          <dgm:bulletEnabled val="1"/>
        </dgm:presLayoutVars>
      </dgm:prSet>
      <dgm:spPr/>
    </dgm:pt>
    <dgm:pt modelId="{18F9EDF5-77F3-49E5-BE25-48E58CF81680}" type="pres">
      <dgm:prSet presAssocID="{A08DC895-B7CE-47CD-9A65-8B4B5B4060E1}" presName="ThreeNodes_2" presStyleLbl="node1" presStyleIdx="1" presStyleCnt="3">
        <dgm:presLayoutVars>
          <dgm:bulletEnabled val="1"/>
        </dgm:presLayoutVars>
      </dgm:prSet>
      <dgm:spPr/>
    </dgm:pt>
    <dgm:pt modelId="{4152C914-F781-4199-95B3-04F0BE00FB04}" type="pres">
      <dgm:prSet presAssocID="{A08DC895-B7CE-47CD-9A65-8B4B5B4060E1}" presName="ThreeNodes_3" presStyleLbl="node1" presStyleIdx="2" presStyleCnt="3">
        <dgm:presLayoutVars>
          <dgm:bulletEnabled val="1"/>
        </dgm:presLayoutVars>
      </dgm:prSet>
      <dgm:spPr/>
    </dgm:pt>
    <dgm:pt modelId="{032C942F-4F40-4503-9BFB-6A61055A004C}" type="pres">
      <dgm:prSet presAssocID="{A08DC895-B7CE-47CD-9A65-8B4B5B4060E1}" presName="ThreeConn_1-2" presStyleLbl="fgAccFollowNode1" presStyleIdx="0" presStyleCnt="2">
        <dgm:presLayoutVars>
          <dgm:bulletEnabled val="1"/>
        </dgm:presLayoutVars>
      </dgm:prSet>
      <dgm:spPr/>
    </dgm:pt>
    <dgm:pt modelId="{D8A20353-AE95-4D6E-96D4-2222B6F79ABB}" type="pres">
      <dgm:prSet presAssocID="{A08DC895-B7CE-47CD-9A65-8B4B5B4060E1}" presName="ThreeConn_2-3" presStyleLbl="fgAccFollowNode1" presStyleIdx="1" presStyleCnt="2">
        <dgm:presLayoutVars>
          <dgm:bulletEnabled val="1"/>
        </dgm:presLayoutVars>
      </dgm:prSet>
      <dgm:spPr/>
    </dgm:pt>
    <dgm:pt modelId="{56A18932-ADDF-4DF7-A702-60579B440383}" type="pres">
      <dgm:prSet presAssocID="{A08DC895-B7CE-47CD-9A65-8B4B5B4060E1}" presName="ThreeNodes_1_text" presStyleLbl="node1" presStyleIdx="2" presStyleCnt="3">
        <dgm:presLayoutVars>
          <dgm:bulletEnabled val="1"/>
        </dgm:presLayoutVars>
      </dgm:prSet>
      <dgm:spPr/>
    </dgm:pt>
    <dgm:pt modelId="{7C0E49EC-AAA8-4FD8-8FB8-8653A369AEF3}" type="pres">
      <dgm:prSet presAssocID="{A08DC895-B7CE-47CD-9A65-8B4B5B4060E1}" presName="ThreeNodes_2_text" presStyleLbl="node1" presStyleIdx="2" presStyleCnt="3">
        <dgm:presLayoutVars>
          <dgm:bulletEnabled val="1"/>
        </dgm:presLayoutVars>
      </dgm:prSet>
      <dgm:spPr/>
    </dgm:pt>
    <dgm:pt modelId="{6D38A027-5DAE-4ED8-8CE7-10CD46B36587}" type="pres">
      <dgm:prSet presAssocID="{A08DC895-B7CE-47CD-9A65-8B4B5B4060E1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9F3E7E0D-7F13-4486-BC89-914614EAB7CE}" srcId="{A08DC895-B7CE-47CD-9A65-8B4B5B4060E1}" destId="{0E35E4C0-8C6B-4414-9774-3DCCBD729686}" srcOrd="0" destOrd="0" parTransId="{444C4D77-588C-4F70-8B5C-7F0BD411091D}" sibTransId="{EC8DFEA5-40A9-4F65-AA57-4560DA340774}"/>
    <dgm:cxn modelId="{109C260E-1D92-4298-8596-08BE0BB46787}" type="presOf" srcId="{30238797-1BB3-47E4-8977-B9CCE050F641}" destId="{6D38A027-5DAE-4ED8-8CE7-10CD46B36587}" srcOrd="1" destOrd="0" presId="urn:microsoft.com/office/officeart/2005/8/layout/vProcess5"/>
    <dgm:cxn modelId="{95575B20-6064-4EE5-BF7F-3B1B37B25214}" type="presOf" srcId="{EC8DFEA5-40A9-4F65-AA57-4560DA340774}" destId="{032C942F-4F40-4503-9BFB-6A61055A004C}" srcOrd="0" destOrd="0" presId="urn:microsoft.com/office/officeart/2005/8/layout/vProcess5"/>
    <dgm:cxn modelId="{57ADEC30-6A2D-4AC1-A4BF-8A9B3958FDB4}" srcId="{A08DC895-B7CE-47CD-9A65-8B4B5B4060E1}" destId="{97775F38-DD19-41D0-AFF7-8A0D7997BE84}" srcOrd="1" destOrd="0" parTransId="{CCA4A943-C9FF-437E-B0ED-84B0EC92EB2A}" sibTransId="{9ED22752-6F6B-4FD4-81E4-18F6D156F92B}"/>
    <dgm:cxn modelId="{6ECF1E64-DCDC-42B8-98A3-2C72BE944BF1}" srcId="{A08DC895-B7CE-47CD-9A65-8B4B5B4060E1}" destId="{30238797-1BB3-47E4-8977-B9CCE050F641}" srcOrd="2" destOrd="0" parTransId="{96C7A616-75F7-41B9-8194-E5729F0A007B}" sibTransId="{E2CF9DD0-1EFF-4849-B6FD-D29C25AFD18F}"/>
    <dgm:cxn modelId="{AE181C67-9485-4EFC-858D-5317EBE5A9C5}" type="presOf" srcId="{A08DC895-B7CE-47CD-9A65-8B4B5B4060E1}" destId="{EE3E35F1-DEB8-48D8-93EE-A2317FBAB6BD}" srcOrd="0" destOrd="0" presId="urn:microsoft.com/office/officeart/2005/8/layout/vProcess5"/>
    <dgm:cxn modelId="{1D561368-A9B8-4718-A116-98793A5902ED}" type="presOf" srcId="{0E35E4C0-8C6B-4414-9774-3DCCBD729686}" destId="{65AD1A32-5229-4A1D-AB05-32BF55B0D1F6}" srcOrd="0" destOrd="0" presId="urn:microsoft.com/office/officeart/2005/8/layout/vProcess5"/>
    <dgm:cxn modelId="{F604C168-73AF-4867-B905-056F3D7364DB}" type="presOf" srcId="{0E35E4C0-8C6B-4414-9774-3DCCBD729686}" destId="{56A18932-ADDF-4DF7-A702-60579B440383}" srcOrd="1" destOrd="0" presId="urn:microsoft.com/office/officeart/2005/8/layout/vProcess5"/>
    <dgm:cxn modelId="{39BC46C9-C10E-4537-8554-6036A01ED712}" type="presOf" srcId="{30238797-1BB3-47E4-8977-B9CCE050F641}" destId="{4152C914-F781-4199-95B3-04F0BE00FB04}" srcOrd="0" destOrd="0" presId="urn:microsoft.com/office/officeart/2005/8/layout/vProcess5"/>
    <dgm:cxn modelId="{D19CB5DD-DFA4-45DE-850B-8E18EDD5E228}" type="presOf" srcId="{9ED22752-6F6B-4FD4-81E4-18F6D156F92B}" destId="{D8A20353-AE95-4D6E-96D4-2222B6F79ABB}" srcOrd="0" destOrd="0" presId="urn:microsoft.com/office/officeart/2005/8/layout/vProcess5"/>
    <dgm:cxn modelId="{E2A2E1F2-C94B-471B-AA2E-CC9390B80611}" type="presOf" srcId="{97775F38-DD19-41D0-AFF7-8A0D7997BE84}" destId="{7C0E49EC-AAA8-4FD8-8FB8-8653A369AEF3}" srcOrd="1" destOrd="0" presId="urn:microsoft.com/office/officeart/2005/8/layout/vProcess5"/>
    <dgm:cxn modelId="{9C3781F5-9D68-477A-89CA-6DC2947BEC27}" type="presOf" srcId="{97775F38-DD19-41D0-AFF7-8A0D7997BE84}" destId="{18F9EDF5-77F3-49E5-BE25-48E58CF81680}" srcOrd="0" destOrd="0" presId="urn:microsoft.com/office/officeart/2005/8/layout/vProcess5"/>
    <dgm:cxn modelId="{C6B4C106-47FE-417A-9035-A72A9F5B3FAD}" type="presParOf" srcId="{EE3E35F1-DEB8-48D8-93EE-A2317FBAB6BD}" destId="{480C65FC-F5C0-446A-8C04-7A2C332FF96F}" srcOrd="0" destOrd="0" presId="urn:microsoft.com/office/officeart/2005/8/layout/vProcess5"/>
    <dgm:cxn modelId="{03167CAB-8F4B-4E9B-A7C6-AC3183F76E51}" type="presParOf" srcId="{EE3E35F1-DEB8-48D8-93EE-A2317FBAB6BD}" destId="{65AD1A32-5229-4A1D-AB05-32BF55B0D1F6}" srcOrd="1" destOrd="0" presId="urn:microsoft.com/office/officeart/2005/8/layout/vProcess5"/>
    <dgm:cxn modelId="{2778A7B9-C9BA-4554-964D-BD6D2BFE1C3C}" type="presParOf" srcId="{EE3E35F1-DEB8-48D8-93EE-A2317FBAB6BD}" destId="{18F9EDF5-77F3-49E5-BE25-48E58CF81680}" srcOrd="2" destOrd="0" presId="urn:microsoft.com/office/officeart/2005/8/layout/vProcess5"/>
    <dgm:cxn modelId="{A991EC14-E48C-4D1A-B7EF-2FDADE98504E}" type="presParOf" srcId="{EE3E35F1-DEB8-48D8-93EE-A2317FBAB6BD}" destId="{4152C914-F781-4199-95B3-04F0BE00FB04}" srcOrd="3" destOrd="0" presId="urn:microsoft.com/office/officeart/2005/8/layout/vProcess5"/>
    <dgm:cxn modelId="{30C4D122-970F-4130-9C56-8DCC81B12378}" type="presParOf" srcId="{EE3E35F1-DEB8-48D8-93EE-A2317FBAB6BD}" destId="{032C942F-4F40-4503-9BFB-6A61055A004C}" srcOrd="4" destOrd="0" presId="urn:microsoft.com/office/officeart/2005/8/layout/vProcess5"/>
    <dgm:cxn modelId="{B8CA28B4-A4E6-422E-A470-04CBD85158D4}" type="presParOf" srcId="{EE3E35F1-DEB8-48D8-93EE-A2317FBAB6BD}" destId="{D8A20353-AE95-4D6E-96D4-2222B6F79ABB}" srcOrd="5" destOrd="0" presId="urn:microsoft.com/office/officeart/2005/8/layout/vProcess5"/>
    <dgm:cxn modelId="{B8364708-13E9-4AB7-9F97-F9A3E7FAC3D2}" type="presParOf" srcId="{EE3E35F1-DEB8-48D8-93EE-A2317FBAB6BD}" destId="{56A18932-ADDF-4DF7-A702-60579B440383}" srcOrd="6" destOrd="0" presId="urn:microsoft.com/office/officeart/2005/8/layout/vProcess5"/>
    <dgm:cxn modelId="{F129D179-2E69-4534-A02C-B89E19F73EAE}" type="presParOf" srcId="{EE3E35F1-DEB8-48D8-93EE-A2317FBAB6BD}" destId="{7C0E49EC-AAA8-4FD8-8FB8-8653A369AEF3}" srcOrd="7" destOrd="0" presId="urn:microsoft.com/office/officeart/2005/8/layout/vProcess5"/>
    <dgm:cxn modelId="{8B087FA1-E551-48E2-B056-B0390884F3EC}" type="presParOf" srcId="{EE3E35F1-DEB8-48D8-93EE-A2317FBAB6BD}" destId="{6D38A027-5DAE-4ED8-8CE7-10CD46B36587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3D91BDA-EDB7-4EC5-8B6D-D069CDEBD8EE}" type="doc">
      <dgm:prSet loTypeId="urn:microsoft.com/office/officeart/2016/7/layout/HorizontalActionList" loCatId="List" qsTypeId="urn:microsoft.com/office/officeart/2005/8/quickstyle/simple2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D4DDBC86-6D2B-4E68-8929-66DE95586A1F}">
      <dgm:prSet/>
      <dgm:spPr/>
      <dgm:t>
        <a:bodyPr/>
        <a:lstStyle/>
        <a:p>
          <a:r>
            <a:rPr lang="en-US"/>
            <a:t>Review</a:t>
          </a:r>
        </a:p>
      </dgm:t>
    </dgm:pt>
    <dgm:pt modelId="{9051E7AB-26D9-45E4-98C6-C23A40503C2D}" type="parTrans" cxnId="{BF935871-C853-4920-B995-648D7C07F2B2}">
      <dgm:prSet/>
      <dgm:spPr/>
      <dgm:t>
        <a:bodyPr/>
        <a:lstStyle/>
        <a:p>
          <a:endParaRPr lang="en-US"/>
        </a:p>
      </dgm:t>
    </dgm:pt>
    <dgm:pt modelId="{4FF3060F-7D0B-442A-84ED-5104FAF5A40B}" type="sibTrans" cxnId="{BF935871-C853-4920-B995-648D7C07F2B2}">
      <dgm:prSet/>
      <dgm:spPr/>
      <dgm:t>
        <a:bodyPr/>
        <a:lstStyle/>
        <a:p>
          <a:endParaRPr lang="en-US"/>
        </a:p>
      </dgm:t>
    </dgm:pt>
    <dgm:pt modelId="{096D9F88-D114-40F5-AEAD-22A57697FD45}">
      <dgm:prSet/>
      <dgm:spPr/>
      <dgm:t>
        <a:bodyPr/>
        <a:lstStyle/>
        <a:p>
          <a:r>
            <a:rPr lang="en-US"/>
            <a:t>Review Models used in profiling</a:t>
          </a:r>
        </a:p>
      </dgm:t>
    </dgm:pt>
    <dgm:pt modelId="{00605FA0-93C0-432C-93B9-B693840DFDDE}" type="parTrans" cxnId="{4E859539-75A1-4612-94A5-DB320C503140}">
      <dgm:prSet/>
      <dgm:spPr/>
      <dgm:t>
        <a:bodyPr/>
        <a:lstStyle/>
        <a:p>
          <a:endParaRPr lang="en-US"/>
        </a:p>
      </dgm:t>
    </dgm:pt>
    <dgm:pt modelId="{B077EA57-13E6-4841-82D8-06F5B086DF78}" type="sibTrans" cxnId="{4E859539-75A1-4612-94A5-DB320C503140}">
      <dgm:prSet/>
      <dgm:spPr/>
      <dgm:t>
        <a:bodyPr/>
        <a:lstStyle/>
        <a:p>
          <a:endParaRPr lang="en-US"/>
        </a:p>
      </dgm:t>
    </dgm:pt>
    <dgm:pt modelId="{D588DC61-FBA6-47FB-9F21-D097F32D8C15}">
      <dgm:prSet/>
      <dgm:spPr/>
      <dgm:t>
        <a:bodyPr/>
        <a:lstStyle/>
        <a:p>
          <a:r>
            <a:rPr lang="en-US"/>
            <a:t>Apply</a:t>
          </a:r>
        </a:p>
      </dgm:t>
    </dgm:pt>
    <dgm:pt modelId="{5C940DFB-5EB7-4B27-A8CA-197D4F3C35B9}" type="parTrans" cxnId="{CD8B2738-EBBB-4FCD-858C-A136866DC437}">
      <dgm:prSet/>
      <dgm:spPr/>
      <dgm:t>
        <a:bodyPr/>
        <a:lstStyle/>
        <a:p>
          <a:endParaRPr lang="en-US"/>
        </a:p>
      </dgm:t>
    </dgm:pt>
    <dgm:pt modelId="{292C3DC6-01A7-46CB-B538-491E318DCB09}" type="sibTrans" cxnId="{CD8B2738-EBBB-4FCD-858C-A136866DC437}">
      <dgm:prSet/>
      <dgm:spPr/>
      <dgm:t>
        <a:bodyPr/>
        <a:lstStyle/>
        <a:p>
          <a:endParaRPr lang="en-US"/>
        </a:p>
      </dgm:t>
    </dgm:pt>
    <dgm:pt modelId="{C90AD0FC-3E9F-4B59-A2FD-B5A62D9DC540}">
      <dgm:prSet/>
      <dgm:spPr/>
      <dgm:t>
        <a:bodyPr/>
        <a:lstStyle/>
        <a:p>
          <a:r>
            <a:rPr lang="en-US" dirty="0"/>
            <a:t>Apply bias / fairness metrics</a:t>
          </a:r>
        </a:p>
      </dgm:t>
    </dgm:pt>
    <dgm:pt modelId="{D8BAC9E4-91EB-4D64-95DF-E9013BCBF833}" type="parTrans" cxnId="{D5343E19-9A81-4698-9583-F23C998F6347}">
      <dgm:prSet/>
      <dgm:spPr/>
      <dgm:t>
        <a:bodyPr/>
        <a:lstStyle/>
        <a:p>
          <a:endParaRPr lang="en-US"/>
        </a:p>
      </dgm:t>
    </dgm:pt>
    <dgm:pt modelId="{58274BE8-195E-4688-B8CD-D7149290548D}" type="sibTrans" cxnId="{D5343E19-9A81-4698-9583-F23C998F6347}">
      <dgm:prSet/>
      <dgm:spPr/>
      <dgm:t>
        <a:bodyPr/>
        <a:lstStyle/>
        <a:p>
          <a:endParaRPr lang="en-US"/>
        </a:p>
      </dgm:t>
    </dgm:pt>
    <dgm:pt modelId="{4F283BCD-DF8B-4865-8221-F11338675136}">
      <dgm:prSet/>
      <dgm:spPr/>
      <dgm:t>
        <a:bodyPr/>
        <a:lstStyle/>
        <a:p>
          <a:r>
            <a:rPr lang="en-US"/>
            <a:t>Map</a:t>
          </a:r>
        </a:p>
      </dgm:t>
    </dgm:pt>
    <dgm:pt modelId="{AEC99055-70AC-4AB3-B42F-289033599FF3}" type="parTrans" cxnId="{72BA9B23-B72A-41FC-ADFA-F3516140706B}">
      <dgm:prSet/>
      <dgm:spPr/>
      <dgm:t>
        <a:bodyPr/>
        <a:lstStyle/>
        <a:p>
          <a:endParaRPr lang="en-US"/>
        </a:p>
      </dgm:t>
    </dgm:pt>
    <dgm:pt modelId="{CA38BC49-804F-46B3-B2B3-3F895F75D6DD}" type="sibTrans" cxnId="{72BA9B23-B72A-41FC-ADFA-F3516140706B}">
      <dgm:prSet/>
      <dgm:spPr/>
      <dgm:t>
        <a:bodyPr/>
        <a:lstStyle/>
        <a:p>
          <a:endParaRPr lang="en-US"/>
        </a:p>
      </dgm:t>
    </dgm:pt>
    <dgm:pt modelId="{D3ED2408-16AC-40D0-9498-3912B7682C09}">
      <dgm:prSet/>
      <dgm:spPr/>
      <dgm:t>
        <a:bodyPr/>
        <a:lstStyle/>
        <a:p>
          <a:r>
            <a:rPr lang="en-US" dirty="0"/>
            <a:t>Map outcomes against ethical standards</a:t>
          </a:r>
        </a:p>
      </dgm:t>
    </dgm:pt>
    <dgm:pt modelId="{649D2D79-84E9-46D4-9A91-3ECD8D9CCADB}" type="parTrans" cxnId="{2C0481C5-9829-4247-96F6-FD857C5EC869}">
      <dgm:prSet/>
      <dgm:spPr/>
      <dgm:t>
        <a:bodyPr/>
        <a:lstStyle/>
        <a:p>
          <a:endParaRPr lang="en-US"/>
        </a:p>
      </dgm:t>
    </dgm:pt>
    <dgm:pt modelId="{70568799-8876-400F-92C0-ABABA60BA3AC}" type="sibTrans" cxnId="{2C0481C5-9829-4247-96F6-FD857C5EC869}">
      <dgm:prSet/>
      <dgm:spPr/>
      <dgm:t>
        <a:bodyPr/>
        <a:lstStyle/>
        <a:p>
          <a:endParaRPr lang="en-US"/>
        </a:p>
      </dgm:t>
    </dgm:pt>
    <dgm:pt modelId="{E19E3E5E-0843-45ED-ADB6-AFFD0BB6DC4F}" type="pres">
      <dgm:prSet presAssocID="{13D91BDA-EDB7-4EC5-8B6D-D069CDEBD8EE}" presName="Name0" presStyleCnt="0">
        <dgm:presLayoutVars>
          <dgm:dir/>
          <dgm:animLvl val="lvl"/>
          <dgm:resizeHandles val="exact"/>
        </dgm:presLayoutVars>
      </dgm:prSet>
      <dgm:spPr/>
    </dgm:pt>
    <dgm:pt modelId="{C26304D2-F250-4996-AAA8-3F02BC723065}" type="pres">
      <dgm:prSet presAssocID="{D4DDBC86-6D2B-4E68-8929-66DE95586A1F}" presName="composite" presStyleCnt="0"/>
      <dgm:spPr/>
    </dgm:pt>
    <dgm:pt modelId="{26FD9851-F757-451B-B6D0-6D63CE37BADE}" type="pres">
      <dgm:prSet presAssocID="{D4DDBC86-6D2B-4E68-8929-66DE95586A1F}" presName="parTx" presStyleLbl="alignNode1" presStyleIdx="0" presStyleCnt="3">
        <dgm:presLayoutVars>
          <dgm:chMax val="0"/>
          <dgm:chPref val="0"/>
        </dgm:presLayoutVars>
      </dgm:prSet>
      <dgm:spPr/>
    </dgm:pt>
    <dgm:pt modelId="{F2E36E5D-0A2D-49A6-8D7E-C9CB049F42D8}" type="pres">
      <dgm:prSet presAssocID="{D4DDBC86-6D2B-4E68-8929-66DE95586A1F}" presName="desTx" presStyleLbl="alignAccFollowNode1" presStyleIdx="0" presStyleCnt="3">
        <dgm:presLayoutVars/>
      </dgm:prSet>
      <dgm:spPr/>
    </dgm:pt>
    <dgm:pt modelId="{EAF8FBA4-8756-4721-ADB2-559AFC235891}" type="pres">
      <dgm:prSet presAssocID="{4FF3060F-7D0B-442A-84ED-5104FAF5A40B}" presName="space" presStyleCnt="0"/>
      <dgm:spPr/>
    </dgm:pt>
    <dgm:pt modelId="{214F0C44-504A-4DDC-97AF-B04A0BFFA53E}" type="pres">
      <dgm:prSet presAssocID="{D588DC61-FBA6-47FB-9F21-D097F32D8C15}" presName="composite" presStyleCnt="0"/>
      <dgm:spPr/>
    </dgm:pt>
    <dgm:pt modelId="{D36877DA-C197-4291-8D56-FC0AFB98B1FF}" type="pres">
      <dgm:prSet presAssocID="{D588DC61-FBA6-47FB-9F21-D097F32D8C15}" presName="parTx" presStyleLbl="alignNode1" presStyleIdx="1" presStyleCnt="3" custLinFactNeighborY="-891">
        <dgm:presLayoutVars>
          <dgm:chMax val="0"/>
          <dgm:chPref val="0"/>
        </dgm:presLayoutVars>
      </dgm:prSet>
      <dgm:spPr/>
    </dgm:pt>
    <dgm:pt modelId="{D07529B1-CC84-4B7C-B687-241019589D1A}" type="pres">
      <dgm:prSet presAssocID="{D588DC61-FBA6-47FB-9F21-D097F32D8C15}" presName="desTx" presStyleLbl="alignAccFollowNode1" presStyleIdx="1" presStyleCnt="3">
        <dgm:presLayoutVars/>
      </dgm:prSet>
      <dgm:spPr/>
    </dgm:pt>
    <dgm:pt modelId="{74D07DCA-6E06-4D80-BBCB-11CC37D4FADA}" type="pres">
      <dgm:prSet presAssocID="{292C3DC6-01A7-46CB-B538-491E318DCB09}" presName="space" presStyleCnt="0"/>
      <dgm:spPr/>
    </dgm:pt>
    <dgm:pt modelId="{9A43BF4F-4664-42B5-B1D0-B7E08A3DA734}" type="pres">
      <dgm:prSet presAssocID="{4F283BCD-DF8B-4865-8221-F11338675136}" presName="composite" presStyleCnt="0"/>
      <dgm:spPr/>
    </dgm:pt>
    <dgm:pt modelId="{4A1C9438-7F84-457E-8005-8043029446D8}" type="pres">
      <dgm:prSet presAssocID="{4F283BCD-DF8B-4865-8221-F11338675136}" presName="parTx" presStyleLbl="alignNode1" presStyleIdx="2" presStyleCnt="3">
        <dgm:presLayoutVars>
          <dgm:chMax val="0"/>
          <dgm:chPref val="0"/>
        </dgm:presLayoutVars>
      </dgm:prSet>
      <dgm:spPr/>
    </dgm:pt>
    <dgm:pt modelId="{A3D1091D-281D-4EBA-8A25-C8AAA50C0D7F}" type="pres">
      <dgm:prSet presAssocID="{4F283BCD-DF8B-4865-8221-F11338675136}" presName="desTx" presStyleLbl="alignAccFollowNode1" presStyleIdx="2" presStyleCnt="3">
        <dgm:presLayoutVars/>
      </dgm:prSet>
      <dgm:spPr/>
    </dgm:pt>
  </dgm:ptLst>
  <dgm:cxnLst>
    <dgm:cxn modelId="{4BC9850C-69AE-486F-A57B-A8DB4EF660B6}" type="presOf" srcId="{13D91BDA-EDB7-4EC5-8B6D-D069CDEBD8EE}" destId="{E19E3E5E-0843-45ED-ADB6-AFFD0BB6DC4F}" srcOrd="0" destOrd="0" presId="urn:microsoft.com/office/officeart/2016/7/layout/HorizontalActionList"/>
    <dgm:cxn modelId="{D5343E19-9A81-4698-9583-F23C998F6347}" srcId="{D588DC61-FBA6-47FB-9F21-D097F32D8C15}" destId="{C90AD0FC-3E9F-4B59-A2FD-B5A62D9DC540}" srcOrd="0" destOrd="0" parTransId="{D8BAC9E4-91EB-4D64-95DF-E9013BCBF833}" sibTransId="{58274BE8-195E-4688-B8CD-D7149290548D}"/>
    <dgm:cxn modelId="{72BA9B23-B72A-41FC-ADFA-F3516140706B}" srcId="{13D91BDA-EDB7-4EC5-8B6D-D069CDEBD8EE}" destId="{4F283BCD-DF8B-4865-8221-F11338675136}" srcOrd="2" destOrd="0" parTransId="{AEC99055-70AC-4AB3-B42F-289033599FF3}" sibTransId="{CA38BC49-804F-46B3-B2B3-3F895F75D6DD}"/>
    <dgm:cxn modelId="{B5188734-C19B-4F67-B2A4-425429BC7BC8}" type="presOf" srcId="{D588DC61-FBA6-47FB-9F21-D097F32D8C15}" destId="{D36877DA-C197-4291-8D56-FC0AFB98B1FF}" srcOrd="0" destOrd="0" presId="urn:microsoft.com/office/officeart/2016/7/layout/HorizontalActionList"/>
    <dgm:cxn modelId="{CD8B2738-EBBB-4FCD-858C-A136866DC437}" srcId="{13D91BDA-EDB7-4EC5-8B6D-D069CDEBD8EE}" destId="{D588DC61-FBA6-47FB-9F21-D097F32D8C15}" srcOrd="1" destOrd="0" parTransId="{5C940DFB-5EB7-4B27-A8CA-197D4F3C35B9}" sibTransId="{292C3DC6-01A7-46CB-B538-491E318DCB09}"/>
    <dgm:cxn modelId="{4E859539-75A1-4612-94A5-DB320C503140}" srcId="{D4DDBC86-6D2B-4E68-8929-66DE95586A1F}" destId="{096D9F88-D114-40F5-AEAD-22A57697FD45}" srcOrd="0" destOrd="0" parTransId="{00605FA0-93C0-432C-93B9-B693840DFDDE}" sibTransId="{B077EA57-13E6-4841-82D8-06F5B086DF78}"/>
    <dgm:cxn modelId="{8097354D-0C72-48FA-8466-F9A4D466E8D2}" type="presOf" srcId="{D4DDBC86-6D2B-4E68-8929-66DE95586A1F}" destId="{26FD9851-F757-451B-B6D0-6D63CE37BADE}" srcOrd="0" destOrd="0" presId="urn:microsoft.com/office/officeart/2016/7/layout/HorizontalActionList"/>
    <dgm:cxn modelId="{BF935871-C853-4920-B995-648D7C07F2B2}" srcId="{13D91BDA-EDB7-4EC5-8B6D-D069CDEBD8EE}" destId="{D4DDBC86-6D2B-4E68-8929-66DE95586A1F}" srcOrd="0" destOrd="0" parTransId="{9051E7AB-26D9-45E4-98C6-C23A40503C2D}" sibTransId="{4FF3060F-7D0B-442A-84ED-5104FAF5A40B}"/>
    <dgm:cxn modelId="{FADB187C-D594-430E-933D-1F94A5AAEC90}" type="presOf" srcId="{C90AD0FC-3E9F-4B59-A2FD-B5A62D9DC540}" destId="{D07529B1-CC84-4B7C-B687-241019589D1A}" srcOrd="0" destOrd="0" presId="urn:microsoft.com/office/officeart/2016/7/layout/HorizontalActionList"/>
    <dgm:cxn modelId="{B3F179B4-5071-4D1D-951E-9245C964B3E4}" type="presOf" srcId="{4F283BCD-DF8B-4865-8221-F11338675136}" destId="{4A1C9438-7F84-457E-8005-8043029446D8}" srcOrd="0" destOrd="0" presId="urn:microsoft.com/office/officeart/2016/7/layout/HorizontalActionList"/>
    <dgm:cxn modelId="{66BF2DBD-E462-4CD9-8337-5CC32ED0526A}" type="presOf" srcId="{096D9F88-D114-40F5-AEAD-22A57697FD45}" destId="{F2E36E5D-0A2D-49A6-8D7E-C9CB049F42D8}" srcOrd="0" destOrd="0" presId="urn:microsoft.com/office/officeart/2016/7/layout/HorizontalActionList"/>
    <dgm:cxn modelId="{2C0481C5-9829-4247-96F6-FD857C5EC869}" srcId="{4F283BCD-DF8B-4865-8221-F11338675136}" destId="{D3ED2408-16AC-40D0-9498-3912B7682C09}" srcOrd="0" destOrd="0" parTransId="{649D2D79-84E9-46D4-9A91-3ECD8D9CCADB}" sibTransId="{70568799-8876-400F-92C0-ABABA60BA3AC}"/>
    <dgm:cxn modelId="{47EE86DD-C955-46E2-8F4E-01EBD1F5AAD3}" type="presOf" srcId="{D3ED2408-16AC-40D0-9498-3912B7682C09}" destId="{A3D1091D-281D-4EBA-8A25-C8AAA50C0D7F}" srcOrd="0" destOrd="0" presId="urn:microsoft.com/office/officeart/2016/7/layout/HorizontalActionList"/>
    <dgm:cxn modelId="{8E446149-C951-47E7-B73A-A2E9EED18856}" type="presParOf" srcId="{E19E3E5E-0843-45ED-ADB6-AFFD0BB6DC4F}" destId="{C26304D2-F250-4996-AAA8-3F02BC723065}" srcOrd="0" destOrd="0" presId="urn:microsoft.com/office/officeart/2016/7/layout/HorizontalActionList"/>
    <dgm:cxn modelId="{2EAD3DC5-0766-4261-850B-441DD3FEA2B0}" type="presParOf" srcId="{C26304D2-F250-4996-AAA8-3F02BC723065}" destId="{26FD9851-F757-451B-B6D0-6D63CE37BADE}" srcOrd="0" destOrd="0" presId="urn:microsoft.com/office/officeart/2016/7/layout/HorizontalActionList"/>
    <dgm:cxn modelId="{16B8B7BA-A987-4A5A-ADAF-1C0C38520047}" type="presParOf" srcId="{C26304D2-F250-4996-AAA8-3F02BC723065}" destId="{F2E36E5D-0A2D-49A6-8D7E-C9CB049F42D8}" srcOrd="1" destOrd="0" presId="urn:microsoft.com/office/officeart/2016/7/layout/HorizontalActionList"/>
    <dgm:cxn modelId="{DD74FF38-8A57-4D11-9F26-483C25BED86F}" type="presParOf" srcId="{E19E3E5E-0843-45ED-ADB6-AFFD0BB6DC4F}" destId="{EAF8FBA4-8756-4721-ADB2-559AFC235891}" srcOrd="1" destOrd="0" presId="urn:microsoft.com/office/officeart/2016/7/layout/HorizontalActionList"/>
    <dgm:cxn modelId="{72CEC2A3-A969-4DF8-98A1-AFC34F5E82FC}" type="presParOf" srcId="{E19E3E5E-0843-45ED-ADB6-AFFD0BB6DC4F}" destId="{214F0C44-504A-4DDC-97AF-B04A0BFFA53E}" srcOrd="2" destOrd="0" presId="urn:microsoft.com/office/officeart/2016/7/layout/HorizontalActionList"/>
    <dgm:cxn modelId="{1A2B5287-58D7-4A87-9E25-E338D2CF60C6}" type="presParOf" srcId="{214F0C44-504A-4DDC-97AF-B04A0BFFA53E}" destId="{D36877DA-C197-4291-8D56-FC0AFB98B1FF}" srcOrd="0" destOrd="0" presId="urn:microsoft.com/office/officeart/2016/7/layout/HorizontalActionList"/>
    <dgm:cxn modelId="{189D6FA5-1D67-4A3D-A92E-3918895B3590}" type="presParOf" srcId="{214F0C44-504A-4DDC-97AF-B04A0BFFA53E}" destId="{D07529B1-CC84-4B7C-B687-241019589D1A}" srcOrd="1" destOrd="0" presId="urn:microsoft.com/office/officeart/2016/7/layout/HorizontalActionList"/>
    <dgm:cxn modelId="{6E92A71C-20C0-49FC-B0D2-AF874C5C743B}" type="presParOf" srcId="{E19E3E5E-0843-45ED-ADB6-AFFD0BB6DC4F}" destId="{74D07DCA-6E06-4D80-BBCB-11CC37D4FADA}" srcOrd="3" destOrd="0" presId="urn:microsoft.com/office/officeart/2016/7/layout/HorizontalActionList"/>
    <dgm:cxn modelId="{BDB5EC8F-13CE-4842-AC31-BF308D8B7B7E}" type="presParOf" srcId="{E19E3E5E-0843-45ED-ADB6-AFFD0BB6DC4F}" destId="{9A43BF4F-4664-42B5-B1D0-B7E08A3DA734}" srcOrd="4" destOrd="0" presId="urn:microsoft.com/office/officeart/2016/7/layout/HorizontalActionList"/>
    <dgm:cxn modelId="{88316283-55F5-4873-9CF5-C9B7D1699A7D}" type="presParOf" srcId="{9A43BF4F-4664-42B5-B1D0-B7E08A3DA734}" destId="{4A1C9438-7F84-457E-8005-8043029446D8}" srcOrd="0" destOrd="0" presId="urn:microsoft.com/office/officeart/2016/7/layout/HorizontalActionList"/>
    <dgm:cxn modelId="{869AD69B-A1E4-4130-A93F-D4ED94CB2DA1}" type="presParOf" srcId="{9A43BF4F-4664-42B5-B1D0-B7E08A3DA734}" destId="{A3D1091D-281D-4EBA-8A25-C8AAA50C0D7F}" srcOrd="1" destOrd="0" presId="urn:microsoft.com/office/officeart/2016/7/layout/Horizontal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49AD407-81CD-4C97-B6BA-C4A536B5C8C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3A2056DD-7CD4-46AB-A7CC-069B57299A86}">
      <dgm:prSet/>
      <dgm:spPr/>
      <dgm:t>
        <a:bodyPr/>
        <a:lstStyle/>
        <a:p>
          <a:r>
            <a:rPr lang="en-US" baseline="0"/>
            <a:t>Week 1-2: Extended Lit Review</a:t>
          </a:r>
          <a:endParaRPr lang="en-US"/>
        </a:p>
      </dgm:t>
    </dgm:pt>
    <dgm:pt modelId="{E8476EF4-7CF2-484D-979B-6EB23E846927}" type="parTrans" cxnId="{5AE6EF45-DB59-40A0-B194-B356DCC8A9AF}">
      <dgm:prSet/>
      <dgm:spPr/>
      <dgm:t>
        <a:bodyPr/>
        <a:lstStyle/>
        <a:p>
          <a:endParaRPr lang="en-US"/>
        </a:p>
      </dgm:t>
    </dgm:pt>
    <dgm:pt modelId="{42B88F83-673D-42ED-A5A9-69A17CC21AE6}" type="sibTrans" cxnId="{5AE6EF45-DB59-40A0-B194-B356DCC8A9AF}">
      <dgm:prSet/>
      <dgm:spPr/>
      <dgm:t>
        <a:bodyPr/>
        <a:lstStyle/>
        <a:p>
          <a:endParaRPr lang="en-US"/>
        </a:p>
      </dgm:t>
    </dgm:pt>
    <dgm:pt modelId="{48FA86D0-50A2-4504-B9CA-6E0518EC2D98}">
      <dgm:prSet/>
      <dgm:spPr/>
      <dgm:t>
        <a:bodyPr/>
        <a:lstStyle/>
        <a:p>
          <a:r>
            <a:rPr lang="en-US" baseline="0" dirty="0"/>
            <a:t>Week 3-4: Framework Design</a:t>
          </a:r>
          <a:endParaRPr lang="en-US" dirty="0"/>
        </a:p>
      </dgm:t>
    </dgm:pt>
    <dgm:pt modelId="{561352A3-9838-42B5-A2D9-EC76CD4B2FFF}" type="parTrans" cxnId="{26F3289C-8497-45B8-A771-6089C883E53A}">
      <dgm:prSet/>
      <dgm:spPr/>
      <dgm:t>
        <a:bodyPr/>
        <a:lstStyle/>
        <a:p>
          <a:endParaRPr lang="en-US"/>
        </a:p>
      </dgm:t>
    </dgm:pt>
    <dgm:pt modelId="{526DCE61-6EAB-4440-88F4-E86EE6CAEA77}" type="sibTrans" cxnId="{26F3289C-8497-45B8-A771-6089C883E53A}">
      <dgm:prSet/>
      <dgm:spPr/>
      <dgm:t>
        <a:bodyPr/>
        <a:lstStyle/>
        <a:p>
          <a:endParaRPr lang="en-US"/>
        </a:p>
      </dgm:t>
    </dgm:pt>
    <dgm:pt modelId="{8C54E1DB-AB6C-4193-ABBF-562282EEC9EE}">
      <dgm:prSet/>
      <dgm:spPr/>
      <dgm:t>
        <a:bodyPr/>
        <a:lstStyle/>
        <a:p>
          <a:r>
            <a:rPr lang="en-US" baseline="0" dirty="0"/>
            <a:t>Week 5-7: Case Analysis</a:t>
          </a:r>
          <a:endParaRPr lang="en-US" dirty="0"/>
        </a:p>
      </dgm:t>
    </dgm:pt>
    <dgm:pt modelId="{A3005F47-BCB7-4F91-8468-12289FEE611F}" type="parTrans" cxnId="{695C76F0-653B-402D-9E0B-D8564851D97C}">
      <dgm:prSet/>
      <dgm:spPr/>
      <dgm:t>
        <a:bodyPr/>
        <a:lstStyle/>
        <a:p>
          <a:endParaRPr lang="en-US"/>
        </a:p>
      </dgm:t>
    </dgm:pt>
    <dgm:pt modelId="{C2EDCD4C-EB03-4862-83A2-E8499416B829}" type="sibTrans" cxnId="{695C76F0-653B-402D-9E0B-D8564851D97C}">
      <dgm:prSet/>
      <dgm:spPr/>
      <dgm:t>
        <a:bodyPr/>
        <a:lstStyle/>
        <a:p>
          <a:endParaRPr lang="en-US"/>
        </a:p>
      </dgm:t>
    </dgm:pt>
    <dgm:pt modelId="{44AEFE8B-B4EB-4500-A7A3-A0C99AEFB9F8}">
      <dgm:prSet/>
      <dgm:spPr/>
      <dgm:t>
        <a:bodyPr/>
        <a:lstStyle/>
        <a:p>
          <a:r>
            <a:rPr lang="en-US" baseline="0" dirty="0"/>
            <a:t>Week 8-9: Draft Results</a:t>
          </a:r>
          <a:endParaRPr lang="en-US" dirty="0"/>
        </a:p>
      </dgm:t>
    </dgm:pt>
    <dgm:pt modelId="{596CDED0-5393-4498-A4BB-868FB14F0D91}" type="parTrans" cxnId="{0E6B9EB9-4902-4A3A-B023-487821F86AEF}">
      <dgm:prSet/>
      <dgm:spPr/>
      <dgm:t>
        <a:bodyPr/>
        <a:lstStyle/>
        <a:p>
          <a:endParaRPr lang="en-US"/>
        </a:p>
      </dgm:t>
    </dgm:pt>
    <dgm:pt modelId="{88D5CD11-1B99-498C-9F25-0097FBCD2CE6}" type="sibTrans" cxnId="{0E6B9EB9-4902-4A3A-B023-487821F86AEF}">
      <dgm:prSet/>
      <dgm:spPr/>
      <dgm:t>
        <a:bodyPr/>
        <a:lstStyle/>
        <a:p>
          <a:endParaRPr lang="en-US"/>
        </a:p>
      </dgm:t>
    </dgm:pt>
    <dgm:pt modelId="{D6C421D6-E945-4101-B890-6B8EFE1DADD1}">
      <dgm:prSet/>
      <dgm:spPr/>
      <dgm:t>
        <a:bodyPr/>
        <a:lstStyle/>
        <a:p>
          <a:r>
            <a:rPr lang="en-US" baseline="0" dirty="0"/>
            <a:t>Weeks 10-11: Final Submission</a:t>
          </a:r>
          <a:endParaRPr lang="en-US" dirty="0"/>
        </a:p>
      </dgm:t>
    </dgm:pt>
    <dgm:pt modelId="{B8C21235-EBC0-4F28-9EDF-15F2F0C4479F}" type="parTrans" cxnId="{9678A0D3-79E2-494E-A649-A41E5ABBCA0D}">
      <dgm:prSet/>
      <dgm:spPr/>
      <dgm:t>
        <a:bodyPr/>
        <a:lstStyle/>
        <a:p>
          <a:endParaRPr lang="en-US"/>
        </a:p>
      </dgm:t>
    </dgm:pt>
    <dgm:pt modelId="{DCA2E33D-DAB4-46E6-A311-03DFA547BA35}" type="sibTrans" cxnId="{9678A0D3-79E2-494E-A649-A41E5ABBCA0D}">
      <dgm:prSet/>
      <dgm:spPr/>
      <dgm:t>
        <a:bodyPr/>
        <a:lstStyle/>
        <a:p>
          <a:endParaRPr lang="en-US"/>
        </a:p>
      </dgm:t>
    </dgm:pt>
    <dgm:pt modelId="{6439ED09-CAF6-4302-ACD2-3CBB73B8DFCF}" type="pres">
      <dgm:prSet presAssocID="{749AD407-81CD-4C97-B6BA-C4A536B5C8C6}" presName="root" presStyleCnt="0">
        <dgm:presLayoutVars>
          <dgm:dir/>
          <dgm:resizeHandles val="exact"/>
        </dgm:presLayoutVars>
      </dgm:prSet>
      <dgm:spPr/>
    </dgm:pt>
    <dgm:pt modelId="{672F59EC-B9ED-4268-AA19-3E35F6FBD8AC}" type="pres">
      <dgm:prSet presAssocID="{3A2056DD-7CD4-46AB-A7CC-069B57299A86}" presName="compNode" presStyleCnt="0"/>
      <dgm:spPr/>
    </dgm:pt>
    <dgm:pt modelId="{03BF3ED8-5CCC-4A81-8A8D-29A8C3CE2AEC}" type="pres">
      <dgm:prSet presAssocID="{3A2056DD-7CD4-46AB-A7CC-069B57299A86}" presName="bgRect" presStyleLbl="bgShp" presStyleIdx="0" presStyleCnt="5"/>
      <dgm:spPr/>
    </dgm:pt>
    <dgm:pt modelId="{DC2821C4-20F6-4C6F-9BE1-148008E0EEB0}" type="pres">
      <dgm:prSet presAssocID="{3A2056DD-7CD4-46AB-A7CC-069B57299A86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B7206EE1-80FD-4A85-A5A0-D0E611EF9A5F}" type="pres">
      <dgm:prSet presAssocID="{3A2056DD-7CD4-46AB-A7CC-069B57299A86}" presName="spaceRect" presStyleCnt="0"/>
      <dgm:spPr/>
    </dgm:pt>
    <dgm:pt modelId="{8CE8EA91-AC7E-4866-8BDD-8EC66EF983C5}" type="pres">
      <dgm:prSet presAssocID="{3A2056DD-7CD4-46AB-A7CC-069B57299A86}" presName="parTx" presStyleLbl="revTx" presStyleIdx="0" presStyleCnt="5">
        <dgm:presLayoutVars>
          <dgm:chMax val="0"/>
          <dgm:chPref val="0"/>
        </dgm:presLayoutVars>
      </dgm:prSet>
      <dgm:spPr/>
    </dgm:pt>
    <dgm:pt modelId="{D3FE1CA7-02E3-49ED-B321-9D4612A4FC91}" type="pres">
      <dgm:prSet presAssocID="{42B88F83-673D-42ED-A5A9-69A17CC21AE6}" presName="sibTrans" presStyleCnt="0"/>
      <dgm:spPr/>
    </dgm:pt>
    <dgm:pt modelId="{DBC6D373-CBE3-485F-AE1E-A60B5E47DAAB}" type="pres">
      <dgm:prSet presAssocID="{48FA86D0-50A2-4504-B9CA-6E0518EC2D98}" presName="compNode" presStyleCnt="0"/>
      <dgm:spPr/>
    </dgm:pt>
    <dgm:pt modelId="{B7AD5311-BE68-4C75-B0EE-233562E355C8}" type="pres">
      <dgm:prSet presAssocID="{48FA86D0-50A2-4504-B9CA-6E0518EC2D98}" presName="bgRect" presStyleLbl="bgShp" presStyleIdx="1" presStyleCnt="5"/>
      <dgm:spPr/>
    </dgm:pt>
    <dgm:pt modelId="{F2A3A9CD-92EB-482A-B525-D3940684B8FB}" type="pres">
      <dgm:prSet presAssocID="{48FA86D0-50A2-4504-B9CA-6E0518EC2D98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peat"/>
        </a:ext>
      </dgm:extLst>
    </dgm:pt>
    <dgm:pt modelId="{F009A1D9-5909-470E-A514-8823D48674F1}" type="pres">
      <dgm:prSet presAssocID="{48FA86D0-50A2-4504-B9CA-6E0518EC2D98}" presName="spaceRect" presStyleCnt="0"/>
      <dgm:spPr/>
    </dgm:pt>
    <dgm:pt modelId="{B22FAB02-2F94-4CE1-B593-3EA661243C3B}" type="pres">
      <dgm:prSet presAssocID="{48FA86D0-50A2-4504-B9CA-6E0518EC2D98}" presName="parTx" presStyleLbl="revTx" presStyleIdx="1" presStyleCnt="5">
        <dgm:presLayoutVars>
          <dgm:chMax val="0"/>
          <dgm:chPref val="0"/>
        </dgm:presLayoutVars>
      </dgm:prSet>
      <dgm:spPr/>
    </dgm:pt>
    <dgm:pt modelId="{00326181-88E8-4808-94EB-18BA2A04A790}" type="pres">
      <dgm:prSet presAssocID="{526DCE61-6EAB-4440-88F4-E86EE6CAEA77}" presName="sibTrans" presStyleCnt="0"/>
      <dgm:spPr/>
    </dgm:pt>
    <dgm:pt modelId="{5D3D3482-96EA-4E10-B94A-01B1831D12A0}" type="pres">
      <dgm:prSet presAssocID="{8C54E1DB-AB6C-4193-ABBF-562282EEC9EE}" presName="compNode" presStyleCnt="0"/>
      <dgm:spPr/>
    </dgm:pt>
    <dgm:pt modelId="{1C1F324B-5ABF-4290-A890-3D3B7781C46B}" type="pres">
      <dgm:prSet presAssocID="{8C54E1DB-AB6C-4193-ABBF-562282EEC9EE}" presName="bgRect" presStyleLbl="bgShp" presStyleIdx="2" presStyleCnt="5"/>
      <dgm:spPr/>
    </dgm:pt>
    <dgm:pt modelId="{B05227B4-5E16-4C48-86DA-28DE9A260B63}" type="pres">
      <dgm:prSet presAssocID="{8C54E1DB-AB6C-4193-ABBF-562282EEC9EE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D7EFDB2A-E958-4D0C-87B8-3D39948B9C1F}" type="pres">
      <dgm:prSet presAssocID="{8C54E1DB-AB6C-4193-ABBF-562282EEC9EE}" presName="spaceRect" presStyleCnt="0"/>
      <dgm:spPr/>
    </dgm:pt>
    <dgm:pt modelId="{9EEC85CF-B8E6-48E9-83F1-29478CA2343E}" type="pres">
      <dgm:prSet presAssocID="{8C54E1DB-AB6C-4193-ABBF-562282EEC9EE}" presName="parTx" presStyleLbl="revTx" presStyleIdx="2" presStyleCnt="5">
        <dgm:presLayoutVars>
          <dgm:chMax val="0"/>
          <dgm:chPref val="0"/>
        </dgm:presLayoutVars>
      </dgm:prSet>
      <dgm:spPr/>
    </dgm:pt>
    <dgm:pt modelId="{ADAF27D9-1F3A-4A3B-B05E-DCA66386AC33}" type="pres">
      <dgm:prSet presAssocID="{C2EDCD4C-EB03-4862-83A2-E8499416B829}" presName="sibTrans" presStyleCnt="0"/>
      <dgm:spPr/>
    </dgm:pt>
    <dgm:pt modelId="{350FFE54-3998-4D55-9E35-65ED1DB713C7}" type="pres">
      <dgm:prSet presAssocID="{44AEFE8B-B4EB-4500-A7A3-A0C99AEFB9F8}" presName="compNode" presStyleCnt="0"/>
      <dgm:spPr/>
    </dgm:pt>
    <dgm:pt modelId="{29534C87-492D-4EDA-89D4-EF38716317CA}" type="pres">
      <dgm:prSet presAssocID="{44AEFE8B-B4EB-4500-A7A3-A0C99AEFB9F8}" presName="bgRect" presStyleLbl="bgShp" presStyleIdx="3" presStyleCnt="5"/>
      <dgm:spPr/>
    </dgm:pt>
    <dgm:pt modelId="{F3A09E2F-3B38-48E9-9A85-E9141AC8BBC6}" type="pres">
      <dgm:prSet presAssocID="{44AEFE8B-B4EB-4500-A7A3-A0C99AEFB9F8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490F2A42-B6D8-4213-A49C-62C003FC2CEA}" type="pres">
      <dgm:prSet presAssocID="{44AEFE8B-B4EB-4500-A7A3-A0C99AEFB9F8}" presName="spaceRect" presStyleCnt="0"/>
      <dgm:spPr/>
    </dgm:pt>
    <dgm:pt modelId="{7CC48CE8-A2AD-4AA9-B7EB-BDD4F436A4BB}" type="pres">
      <dgm:prSet presAssocID="{44AEFE8B-B4EB-4500-A7A3-A0C99AEFB9F8}" presName="parTx" presStyleLbl="revTx" presStyleIdx="3" presStyleCnt="5">
        <dgm:presLayoutVars>
          <dgm:chMax val="0"/>
          <dgm:chPref val="0"/>
        </dgm:presLayoutVars>
      </dgm:prSet>
      <dgm:spPr/>
    </dgm:pt>
    <dgm:pt modelId="{E63AC15D-B935-4315-9619-D1F4BA7EB0EE}" type="pres">
      <dgm:prSet presAssocID="{88D5CD11-1B99-498C-9F25-0097FBCD2CE6}" presName="sibTrans" presStyleCnt="0"/>
      <dgm:spPr/>
    </dgm:pt>
    <dgm:pt modelId="{90DE3DE9-D64F-4C42-A4A2-B0AD681D6934}" type="pres">
      <dgm:prSet presAssocID="{D6C421D6-E945-4101-B890-6B8EFE1DADD1}" presName="compNode" presStyleCnt="0"/>
      <dgm:spPr/>
    </dgm:pt>
    <dgm:pt modelId="{E9516079-F089-45E3-9C0B-6392365B6C8C}" type="pres">
      <dgm:prSet presAssocID="{D6C421D6-E945-4101-B890-6B8EFE1DADD1}" presName="bgRect" presStyleLbl="bgShp" presStyleIdx="4" presStyleCnt="5"/>
      <dgm:spPr/>
    </dgm:pt>
    <dgm:pt modelId="{70453B0C-CF4F-4B6F-8376-4464C420267D}" type="pres">
      <dgm:prSet presAssocID="{D6C421D6-E945-4101-B890-6B8EFE1DADD1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ip Calendar"/>
        </a:ext>
      </dgm:extLst>
    </dgm:pt>
    <dgm:pt modelId="{331B772F-6F4D-4612-B1EA-9EEB560235A8}" type="pres">
      <dgm:prSet presAssocID="{D6C421D6-E945-4101-B890-6B8EFE1DADD1}" presName="spaceRect" presStyleCnt="0"/>
      <dgm:spPr/>
    </dgm:pt>
    <dgm:pt modelId="{49CBF352-9C59-48EF-BD6C-851F84AEEC00}" type="pres">
      <dgm:prSet presAssocID="{D6C421D6-E945-4101-B890-6B8EFE1DADD1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EC67B929-F993-4EE6-B3A2-1B68754E0E2C}" type="presOf" srcId="{D6C421D6-E945-4101-B890-6B8EFE1DADD1}" destId="{49CBF352-9C59-48EF-BD6C-851F84AEEC00}" srcOrd="0" destOrd="0" presId="urn:microsoft.com/office/officeart/2018/2/layout/IconVerticalSolidList"/>
    <dgm:cxn modelId="{A35DF82A-198C-48A6-A92D-452493A4DBF4}" type="presOf" srcId="{3A2056DD-7CD4-46AB-A7CC-069B57299A86}" destId="{8CE8EA91-AC7E-4866-8BDD-8EC66EF983C5}" srcOrd="0" destOrd="0" presId="urn:microsoft.com/office/officeart/2018/2/layout/IconVerticalSolidList"/>
    <dgm:cxn modelId="{5AE6EF45-DB59-40A0-B194-B356DCC8A9AF}" srcId="{749AD407-81CD-4C97-B6BA-C4A536B5C8C6}" destId="{3A2056DD-7CD4-46AB-A7CC-069B57299A86}" srcOrd="0" destOrd="0" parTransId="{E8476EF4-7CF2-484D-979B-6EB23E846927}" sibTransId="{42B88F83-673D-42ED-A5A9-69A17CC21AE6}"/>
    <dgm:cxn modelId="{82BD1647-179B-4A6A-B572-74B491AE9856}" type="presOf" srcId="{8C54E1DB-AB6C-4193-ABBF-562282EEC9EE}" destId="{9EEC85CF-B8E6-48E9-83F1-29478CA2343E}" srcOrd="0" destOrd="0" presId="urn:microsoft.com/office/officeart/2018/2/layout/IconVerticalSolidList"/>
    <dgm:cxn modelId="{CD661D88-1C7E-4D10-A543-525175110F3F}" type="presOf" srcId="{48FA86D0-50A2-4504-B9CA-6E0518EC2D98}" destId="{B22FAB02-2F94-4CE1-B593-3EA661243C3B}" srcOrd="0" destOrd="0" presId="urn:microsoft.com/office/officeart/2018/2/layout/IconVerticalSolidList"/>
    <dgm:cxn modelId="{D4093395-7BFC-46D0-AD89-4B4580EA8053}" type="presOf" srcId="{749AD407-81CD-4C97-B6BA-C4A536B5C8C6}" destId="{6439ED09-CAF6-4302-ACD2-3CBB73B8DFCF}" srcOrd="0" destOrd="0" presId="urn:microsoft.com/office/officeart/2018/2/layout/IconVerticalSolidList"/>
    <dgm:cxn modelId="{26F3289C-8497-45B8-A771-6089C883E53A}" srcId="{749AD407-81CD-4C97-B6BA-C4A536B5C8C6}" destId="{48FA86D0-50A2-4504-B9CA-6E0518EC2D98}" srcOrd="1" destOrd="0" parTransId="{561352A3-9838-42B5-A2D9-EC76CD4B2FFF}" sibTransId="{526DCE61-6EAB-4440-88F4-E86EE6CAEA77}"/>
    <dgm:cxn modelId="{0E6B9EB9-4902-4A3A-B023-487821F86AEF}" srcId="{749AD407-81CD-4C97-B6BA-C4A536B5C8C6}" destId="{44AEFE8B-B4EB-4500-A7A3-A0C99AEFB9F8}" srcOrd="3" destOrd="0" parTransId="{596CDED0-5393-4498-A4BB-868FB14F0D91}" sibTransId="{88D5CD11-1B99-498C-9F25-0097FBCD2CE6}"/>
    <dgm:cxn modelId="{9678A0D3-79E2-494E-A649-A41E5ABBCA0D}" srcId="{749AD407-81CD-4C97-B6BA-C4A536B5C8C6}" destId="{D6C421D6-E945-4101-B890-6B8EFE1DADD1}" srcOrd="4" destOrd="0" parTransId="{B8C21235-EBC0-4F28-9EDF-15F2F0C4479F}" sibTransId="{DCA2E33D-DAB4-46E6-A311-03DFA547BA35}"/>
    <dgm:cxn modelId="{CBB4B9DF-DE38-4ED5-A520-22087425DCB7}" type="presOf" srcId="{44AEFE8B-B4EB-4500-A7A3-A0C99AEFB9F8}" destId="{7CC48CE8-A2AD-4AA9-B7EB-BDD4F436A4BB}" srcOrd="0" destOrd="0" presId="urn:microsoft.com/office/officeart/2018/2/layout/IconVerticalSolidList"/>
    <dgm:cxn modelId="{695C76F0-653B-402D-9E0B-D8564851D97C}" srcId="{749AD407-81CD-4C97-B6BA-C4A536B5C8C6}" destId="{8C54E1DB-AB6C-4193-ABBF-562282EEC9EE}" srcOrd="2" destOrd="0" parTransId="{A3005F47-BCB7-4F91-8468-12289FEE611F}" sibTransId="{C2EDCD4C-EB03-4862-83A2-E8499416B829}"/>
    <dgm:cxn modelId="{30CD7A2D-01F3-4642-82FC-65BA3DB68503}" type="presParOf" srcId="{6439ED09-CAF6-4302-ACD2-3CBB73B8DFCF}" destId="{672F59EC-B9ED-4268-AA19-3E35F6FBD8AC}" srcOrd="0" destOrd="0" presId="urn:microsoft.com/office/officeart/2018/2/layout/IconVerticalSolidList"/>
    <dgm:cxn modelId="{01C73F9C-49ED-4BB1-A4FE-9002AA082359}" type="presParOf" srcId="{672F59EC-B9ED-4268-AA19-3E35F6FBD8AC}" destId="{03BF3ED8-5CCC-4A81-8A8D-29A8C3CE2AEC}" srcOrd="0" destOrd="0" presId="urn:microsoft.com/office/officeart/2018/2/layout/IconVerticalSolidList"/>
    <dgm:cxn modelId="{3141CA36-2A09-403C-B278-E6A981DB4C84}" type="presParOf" srcId="{672F59EC-B9ED-4268-AA19-3E35F6FBD8AC}" destId="{DC2821C4-20F6-4C6F-9BE1-148008E0EEB0}" srcOrd="1" destOrd="0" presId="urn:microsoft.com/office/officeart/2018/2/layout/IconVerticalSolidList"/>
    <dgm:cxn modelId="{F33C1764-FF62-4869-A8FA-17F8BF1FF294}" type="presParOf" srcId="{672F59EC-B9ED-4268-AA19-3E35F6FBD8AC}" destId="{B7206EE1-80FD-4A85-A5A0-D0E611EF9A5F}" srcOrd="2" destOrd="0" presId="urn:microsoft.com/office/officeart/2018/2/layout/IconVerticalSolidList"/>
    <dgm:cxn modelId="{D21CDCCA-D875-4BE3-94C8-83C6C4A5EB7A}" type="presParOf" srcId="{672F59EC-B9ED-4268-AA19-3E35F6FBD8AC}" destId="{8CE8EA91-AC7E-4866-8BDD-8EC66EF983C5}" srcOrd="3" destOrd="0" presId="urn:microsoft.com/office/officeart/2018/2/layout/IconVerticalSolidList"/>
    <dgm:cxn modelId="{77C65A8F-A010-4787-891F-92B1E1AE275F}" type="presParOf" srcId="{6439ED09-CAF6-4302-ACD2-3CBB73B8DFCF}" destId="{D3FE1CA7-02E3-49ED-B321-9D4612A4FC91}" srcOrd="1" destOrd="0" presId="urn:microsoft.com/office/officeart/2018/2/layout/IconVerticalSolidList"/>
    <dgm:cxn modelId="{BAC36F4C-8FBC-43BF-8E0B-66127E6C9E89}" type="presParOf" srcId="{6439ED09-CAF6-4302-ACD2-3CBB73B8DFCF}" destId="{DBC6D373-CBE3-485F-AE1E-A60B5E47DAAB}" srcOrd="2" destOrd="0" presId="urn:microsoft.com/office/officeart/2018/2/layout/IconVerticalSolidList"/>
    <dgm:cxn modelId="{E726EA62-C468-4D99-B931-1CF6CED80DF8}" type="presParOf" srcId="{DBC6D373-CBE3-485F-AE1E-A60B5E47DAAB}" destId="{B7AD5311-BE68-4C75-B0EE-233562E355C8}" srcOrd="0" destOrd="0" presId="urn:microsoft.com/office/officeart/2018/2/layout/IconVerticalSolidList"/>
    <dgm:cxn modelId="{A842D90F-D170-4F13-85FC-9719BB85A536}" type="presParOf" srcId="{DBC6D373-CBE3-485F-AE1E-A60B5E47DAAB}" destId="{F2A3A9CD-92EB-482A-B525-D3940684B8FB}" srcOrd="1" destOrd="0" presId="urn:microsoft.com/office/officeart/2018/2/layout/IconVerticalSolidList"/>
    <dgm:cxn modelId="{55D8274B-CB66-477B-A892-A40F2B9DF5DD}" type="presParOf" srcId="{DBC6D373-CBE3-485F-AE1E-A60B5E47DAAB}" destId="{F009A1D9-5909-470E-A514-8823D48674F1}" srcOrd="2" destOrd="0" presId="urn:microsoft.com/office/officeart/2018/2/layout/IconVerticalSolidList"/>
    <dgm:cxn modelId="{22A51BB0-5BDC-403D-A2BC-1926E5264BB7}" type="presParOf" srcId="{DBC6D373-CBE3-485F-AE1E-A60B5E47DAAB}" destId="{B22FAB02-2F94-4CE1-B593-3EA661243C3B}" srcOrd="3" destOrd="0" presId="urn:microsoft.com/office/officeart/2018/2/layout/IconVerticalSolidList"/>
    <dgm:cxn modelId="{D308271C-9A50-45FA-8A8A-A60AF8877C5A}" type="presParOf" srcId="{6439ED09-CAF6-4302-ACD2-3CBB73B8DFCF}" destId="{00326181-88E8-4808-94EB-18BA2A04A790}" srcOrd="3" destOrd="0" presId="urn:microsoft.com/office/officeart/2018/2/layout/IconVerticalSolidList"/>
    <dgm:cxn modelId="{E6F13962-3A4D-4B82-A513-72B142CA2AD5}" type="presParOf" srcId="{6439ED09-CAF6-4302-ACD2-3CBB73B8DFCF}" destId="{5D3D3482-96EA-4E10-B94A-01B1831D12A0}" srcOrd="4" destOrd="0" presId="urn:microsoft.com/office/officeart/2018/2/layout/IconVerticalSolidList"/>
    <dgm:cxn modelId="{2CCE2D4B-B54A-496A-AAF2-3CF986CFD61F}" type="presParOf" srcId="{5D3D3482-96EA-4E10-B94A-01B1831D12A0}" destId="{1C1F324B-5ABF-4290-A890-3D3B7781C46B}" srcOrd="0" destOrd="0" presId="urn:microsoft.com/office/officeart/2018/2/layout/IconVerticalSolidList"/>
    <dgm:cxn modelId="{25B70869-E7BD-439D-8DB7-E49388125E3F}" type="presParOf" srcId="{5D3D3482-96EA-4E10-B94A-01B1831D12A0}" destId="{B05227B4-5E16-4C48-86DA-28DE9A260B63}" srcOrd="1" destOrd="0" presId="urn:microsoft.com/office/officeart/2018/2/layout/IconVerticalSolidList"/>
    <dgm:cxn modelId="{C20BA005-AD46-4C03-8E74-608187DCE864}" type="presParOf" srcId="{5D3D3482-96EA-4E10-B94A-01B1831D12A0}" destId="{D7EFDB2A-E958-4D0C-87B8-3D39948B9C1F}" srcOrd="2" destOrd="0" presId="urn:microsoft.com/office/officeart/2018/2/layout/IconVerticalSolidList"/>
    <dgm:cxn modelId="{DB7A1622-CA2C-447E-9B09-140E1EB03D38}" type="presParOf" srcId="{5D3D3482-96EA-4E10-B94A-01B1831D12A0}" destId="{9EEC85CF-B8E6-48E9-83F1-29478CA2343E}" srcOrd="3" destOrd="0" presId="urn:microsoft.com/office/officeart/2018/2/layout/IconVerticalSolidList"/>
    <dgm:cxn modelId="{B8B4110D-D631-4F87-AEA4-DC52A5D57B79}" type="presParOf" srcId="{6439ED09-CAF6-4302-ACD2-3CBB73B8DFCF}" destId="{ADAF27D9-1F3A-4A3B-B05E-DCA66386AC33}" srcOrd="5" destOrd="0" presId="urn:microsoft.com/office/officeart/2018/2/layout/IconVerticalSolidList"/>
    <dgm:cxn modelId="{6AEB8CC3-FE9A-40CC-8679-A53C47833614}" type="presParOf" srcId="{6439ED09-CAF6-4302-ACD2-3CBB73B8DFCF}" destId="{350FFE54-3998-4D55-9E35-65ED1DB713C7}" srcOrd="6" destOrd="0" presId="urn:microsoft.com/office/officeart/2018/2/layout/IconVerticalSolidList"/>
    <dgm:cxn modelId="{71A49888-4319-4EA7-B3EA-16BB24CC0CD0}" type="presParOf" srcId="{350FFE54-3998-4D55-9E35-65ED1DB713C7}" destId="{29534C87-492D-4EDA-89D4-EF38716317CA}" srcOrd="0" destOrd="0" presId="urn:microsoft.com/office/officeart/2018/2/layout/IconVerticalSolidList"/>
    <dgm:cxn modelId="{6F391A1C-917E-43E7-AFD6-26CD73A0D80F}" type="presParOf" srcId="{350FFE54-3998-4D55-9E35-65ED1DB713C7}" destId="{F3A09E2F-3B38-48E9-9A85-E9141AC8BBC6}" srcOrd="1" destOrd="0" presId="urn:microsoft.com/office/officeart/2018/2/layout/IconVerticalSolidList"/>
    <dgm:cxn modelId="{16F0D404-5749-4AFA-9937-2C957B111500}" type="presParOf" srcId="{350FFE54-3998-4D55-9E35-65ED1DB713C7}" destId="{490F2A42-B6D8-4213-A49C-62C003FC2CEA}" srcOrd="2" destOrd="0" presId="urn:microsoft.com/office/officeart/2018/2/layout/IconVerticalSolidList"/>
    <dgm:cxn modelId="{746027F1-1212-473B-8B81-D8227FC7021A}" type="presParOf" srcId="{350FFE54-3998-4D55-9E35-65ED1DB713C7}" destId="{7CC48CE8-A2AD-4AA9-B7EB-BDD4F436A4BB}" srcOrd="3" destOrd="0" presId="urn:microsoft.com/office/officeart/2018/2/layout/IconVerticalSolidList"/>
    <dgm:cxn modelId="{F3764DB0-FA14-4B16-8F1B-969BCBD44F90}" type="presParOf" srcId="{6439ED09-CAF6-4302-ACD2-3CBB73B8DFCF}" destId="{E63AC15D-B935-4315-9619-D1F4BA7EB0EE}" srcOrd="7" destOrd="0" presId="urn:microsoft.com/office/officeart/2018/2/layout/IconVerticalSolidList"/>
    <dgm:cxn modelId="{C159A7E9-8B9E-423E-A3D6-070418104580}" type="presParOf" srcId="{6439ED09-CAF6-4302-ACD2-3CBB73B8DFCF}" destId="{90DE3DE9-D64F-4C42-A4A2-B0AD681D6934}" srcOrd="8" destOrd="0" presId="urn:microsoft.com/office/officeart/2018/2/layout/IconVerticalSolidList"/>
    <dgm:cxn modelId="{38398F8D-4FF9-456C-9593-7BA598A741EA}" type="presParOf" srcId="{90DE3DE9-D64F-4C42-A4A2-B0AD681D6934}" destId="{E9516079-F089-45E3-9C0B-6392365B6C8C}" srcOrd="0" destOrd="0" presId="urn:microsoft.com/office/officeart/2018/2/layout/IconVerticalSolidList"/>
    <dgm:cxn modelId="{DEC5732C-F9E2-4916-B47F-72FABB5774F9}" type="presParOf" srcId="{90DE3DE9-D64F-4C42-A4A2-B0AD681D6934}" destId="{70453B0C-CF4F-4B6F-8376-4464C420267D}" srcOrd="1" destOrd="0" presId="urn:microsoft.com/office/officeart/2018/2/layout/IconVerticalSolidList"/>
    <dgm:cxn modelId="{05932630-367F-443A-B546-6BAF9410F2A1}" type="presParOf" srcId="{90DE3DE9-D64F-4C42-A4A2-B0AD681D6934}" destId="{331B772F-6F4D-4612-B1EA-9EEB560235A8}" srcOrd="2" destOrd="0" presId="urn:microsoft.com/office/officeart/2018/2/layout/IconVerticalSolidList"/>
    <dgm:cxn modelId="{161C661F-578A-4493-8571-D419F012DC7C}" type="presParOf" srcId="{90DE3DE9-D64F-4C42-A4A2-B0AD681D6934}" destId="{49CBF352-9C59-48EF-BD6C-851F84AEEC0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AD1A32-5229-4A1D-AB05-32BF55B0D1F6}">
      <dsp:nvSpPr>
        <dsp:cNvPr id="0" name=""/>
        <dsp:cNvSpPr/>
      </dsp:nvSpPr>
      <dsp:spPr>
        <a:xfrm>
          <a:off x="0" y="0"/>
          <a:ext cx="8379462" cy="126044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Design: Qualitative synthesis + framework analysis</a:t>
          </a:r>
        </a:p>
      </dsp:txBody>
      <dsp:txXfrm>
        <a:off x="36917" y="36917"/>
        <a:ext cx="7019345" cy="1186609"/>
      </dsp:txXfrm>
    </dsp:sp>
    <dsp:sp modelId="{18F9EDF5-77F3-49E5-BE25-48E58CF81680}">
      <dsp:nvSpPr>
        <dsp:cNvPr id="0" name=""/>
        <dsp:cNvSpPr/>
      </dsp:nvSpPr>
      <dsp:spPr>
        <a:xfrm>
          <a:off x="739364" y="1470517"/>
          <a:ext cx="8379462" cy="126044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Data: secondary sources, public datasets(e.g. COMPAS)</a:t>
          </a:r>
        </a:p>
      </dsp:txBody>
      <dsp:txXfrm>
        <a:off x="776281" y="1507434"/>
        <a:ext cx="6746975" cy="1186609"/>
      </dsp:txXfrm>
    </dsp:sp>
    <dsp:sp modelId="{4152C914-F781-4199-95B3-04F0BE00FB04}">
      <dsp:nvSpPr>
        <dsp:cNvPr id="0" name=""/>
        <dsp:cNvSpPr/>
      </dsp:nvSpPr>
      <dsp:spPr>
        <a:xfrm>
          <a:off x="1478728" y="2941034"/>
          <a:ext cx="8379462" cy="126044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Analysis: compare ML profiling to FAT/AI (fairness, accountability, transparency)</a:t>
          </a:r>
        </a:p>
      </dsp:txBody>
      <dsp:txXfrm>
        <a:off x="1515645" y="2977951"/>
        <a:ext cx="6746975" cy="1186609"/>
      </dsp:txXfrm>
    </dsp:sp>
    <dsp:sp modelId="{032C942F-4F40-4503-9BFB-6A61055A004C}">
      <dsp:nvSpPr>
        <dsp:cNvPr id="0" name=""/>
        <dsp:cNvSpPr/>
      </dsp:nvSpPr>
      <dsp:spPr>
        <a:xfrm>
          <a:off x="7560174" y="955836"/>
          <a:ext cx="819288" cy="819288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7744514" y="955836"/>
        <a:ext cx="450608" cy="616514"/>
      </dsp:txXfrm>
    </dsp:sp>
    <dsp:sp modelId="{D8A20353-AE95-4D6E-96D4-2222B6F79ABB}">
      <dsp:nvSpPr>
        <dsp:cNvPr id="0" name=""/>
        <dsp:cNvSpPr/>
      </dsp:nvSpPr>
      <dsp:spPr>
        <a:xfrm>
          <a:off x="8299538" y="2417950"/>
          <a:ext cx="819288" cy="819288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8483878" y="2417950"/>
        <a:ext cx="450608" cy="61651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FD9851-F757-451B-B6D0-6D63CE37BADE}">
      <dsp:nvSpPr>
        <dsp:cNvPr id="0" name=""/>
        <dsp:cNvSpPr/>
      </dsp:nvSpPr>
      <dsp:spPr>
        <a:xfrm>
          <a:off x="9966" y="840295"/>
          <a:ext cx="2850004" cy="85500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25214" tIns="225214" rIns="225214" bIns="225214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Review</a:t>
          </a:r>
        </a:p>
      </dsp:txBody>
      <dsp:txXfrm>
        <a:off x="9966" y="840295"/>
        <a:ext cx="2850004" cy="855001"/>
      </dsp:txXfrm>
    </dsp:sp>
    <dsp:sp modelId="{F2E36E5D-0A2D-49A6-8D7E-C9CB049F42D8}">
      <dsp:nvSpPr>
        <dsp:cNvPr id="0" name=""/>
        <dsp:cNvSpPr/>
      </dsp:nvSpPr>
      <dsp:spPr>
        <a:xfrm>
          <a:off x="9966" y="1695296"/>
          <a:ext cx="2850004" cy="1665885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1517" tIns="281517" rIns="281517" bIns="281517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Review Models used in profiling</a:t>
          </a:r>
        </a:p>
      </dsp:txBody>
      <dsp:txXfrm>
        <a:off x="9966" y="1695296"/>
        <a:ext cx="2850004" cy="1665885"/>
      </dsp:txXfrm>
    </dsp:sp>
    <dsp:sp modelId="{D36877DA-C197-4291-8D56-FC0AFB98B1FF}">
      <dsp:nvSpPr>
        <dsp:cNvPr id="0" name=""/>
        <dsp:cNvSpPr/>
      </dsp:nvSpPr>
      <dsp:spPr>
        <a:xfrm>
          <a:off x="2967865" y="832677"/>
          <a:ext cx="2850004" cy="85500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25214" tIns="225214" rIns="225214" bIns="225214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Apply</a:t>
          </a:r>
        </a:p>
      </dsp:txBody>
      <dsp:txXfrm>
        <a:off x="2967865" y="832677"/>
        <a:ext cx="2850004" cy="855001"/>
      </dsp:txXfrm>
    </dsp:sp>
    <dsp:sp modelId="{D07529B1-CC84-4B7C-B687-241019589D1A}">
      <dsp:nvSpPr>
        <dsp:cNvPr id="0" name=""/>
        <dsp:cNvSpPr/>
      </dsp:nvSpPr>
      <dsp:spPr>
        <a:xfrm>
          <a:off x="2967865" y="1695296"/>
          <a:ext cx="2850004" cy="1665885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1517" tIns="281517" rIns="281517" bIns="281517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Apply bias / fairness metrics</a:t>
          </a:r>
        </a:p>
      </dsp:txBody>
      <dsp:txXfrm>
        <a:off x="2967865" y="1695296"/>
        <a:ext cx="2850004" cy="1665885"/>
      </dsp:txXfrm>
    </dsp:sp>
    <dsp:sp modelId="{4A1C9438-7F84-457E-8005-8043029446D8}">
      <dsp:nvSpPr>
        <dsp:cNvPr id="0" name=""/>
        <dsp:cNvSpPr/>
      </dsp:nvSpPr>
      <dsp:spPr>
        <a:xfrm>
          <a:off x="5925764" y="840295"/>
          <a:ext cx="2850004" cy="85500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25214" tIns="225214" rIns="225214" bIns="225214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Map</a:t>
          </a:r>
        </a:p>
      </dsp:txBody>
      <dsp:txXfrm>
        <a:off x="5925764" y="840295"/>
        <a:ext cx="2850004" cy="855001"/>
      </dsp:txXfrm>
    </dsp:sp>
    <dsp:sp modelId="{A3D1091D-281D-4EBA-8A25-C8AAA50C0D7F}">
      <dsp:nvSpPr>
        <dsp:cNvPr id="0" name=""/>
        <dsp:cNvSpPr/>
      </dsp:nvSpPr>
      <dsp:spPr>
        <a:xfrm>
          <a:off x="5925764" y="1695296"/>
          <a:ext cx="2850004" cy="1665885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1517" tIns="281517" rIns="281517" bIns="281517" numCol="1" spcCol="1270" anchor="t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Map outcomes against ethical standards</a:t>
          </a:r>
        </a:p>
      </dsp:txBody>
      <dsp:txXfrm>
        <a:off x="5925764" y="1695296"/>
        <a:ext cx="2850004" cy="166588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BF3ED8-5CCC-4A81-8A8D-29A8C3CE2AEC}">
      <dsp:nvSpPr>
        <dsp:cNvPr id="0" name=""/>
        <dsp:cNvSpPr/>
      </dsp:nvSpPr>
      <dsp:spPr>
        <a:xfrm>
          <a:off x="0" y="3399"/>
          <a:ext cx="9225767" cy="72408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2821C4-20F6-4C6F-9BE1-148008E0EEB0}">
      <dsp:nvSpPr>
        <dsp:cNvPr id="0" name=""/>
        <dsp:cNvSpPr/>
      </dsp:nvSpPr>
      <dsp:spPr>
        <a:xfrm>
          <a:off x="219037" y="166319"/>
          <a:ext cx="398249" cy="39824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397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E8EA91-AC7E-4866-8BDD-8EC66EF983C5}">
      <dsp:nvSpPr>
        <dsp:cNvPr id="0" name=""/>
        <dsp:cNvSpPr/>
      </dsp:nvSpPr>
      <dsp:spPr>
        <a:xfrm>
          <a:off x="836323" y="3399"/>
          <a:ext cx="8389443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baseline="0"/>
            <a:t>Week 1-2: Extended Lit Review</a:t>
          </a:r>
          <a:endParaRPr lang="en-US" sz="1900" kern="1200"/>
        </a:p>
      </dsp:txBody>
      <dsp:txXfrm>
        <a:off x="836323" y="3399"/>
        <a:ext cx="8389443" cy="724089"/>
      </dsp:txXfrm>
    </dsp:sp>
    <dsp:sp modelId="{B7AD5311-BE68-4C75-B0EE-233562E355C8}">
      <dsp:nvSpPr>
        <dsp:cNvPr id="0" name=""/>
        <dsp:cNvSpPr/>
      </dsp:nvSpPr>
      <dsp:spPr>
        <a:xfrm>
          <a:off x="0" y="908511"/>
          <a:ext cx="9225767" cy="72408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A3A9CD-92EB-482A-B525-D3940684B8FB}">
      <dsp:nvSpPr>
        <dsp:cNvPr id="0" name=""/>
        <dsp:cNvSpPr/>
      </dsp:nvSpPr>
      <dsp:spPr>
        <a:xfrm>
          <a:off x="219037" y="1071431"/>
          <a:ext cx="398249" cy="39824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397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2FAB02-2F94-4CE1-B593-3EA661243C3B}">
      <dsp:nvSpPr>
        <dsp:cNvPr id="0" name=""/>
        <dsp:cNvSpPr/>
      </dsp:nvSpPr>
      <dsp:spPr>
        <a:xfrm>
          <a:off x="836323" y="908511"/>
          <a:ext cx="8389443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baseline="0" dirty="0"/>
            <a:t>Week 3-4: Framework Design</a:t>
          </a:r>
          <a:endParaRPr lang="en-US" sz="1900" kern="1200" dirty="0"/>
        </a:p>
      </dsp:txBody>
      <dsp:txXfrm>
        <a:off x="836323" y="908511"/>
        <a:ext cx="8389443" cy="724089"/>
      </dsp:txXfrm>
    </dsp:sp>
    <dsp:sp modelId="{1C1F324B-5ABF-4290-A890-3D3B7781C46B}">
      <dsp:nvSpPr>
        <dsp:cNvPr id="0" name=""/>
        <dsp:cNvSpPr/>
      </dsp:nvSpPr>
      <dsp:spPr>
        <a:xfrm>
          <a:off x="0" y="1813624"/>
          <a:ext cx="9225767" cy="72408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5227B4-5E16-4C48-86DA-28DE9A260B63}">
      <dsp:nvSpPr>
        <dsp:cNvPr id="0" name=""/>
        <dsp:cNvSpPr/>
      </dsp:nvSpPr>
      <dsp:spPr>
        <a:xfrm>
          <a:off x="219037" y="1976544"/>
          <a:ext cx="398249" cy="39824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397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EC85CF-B8E6-48E9-83F1-29478CA2343E}">
      <dsp:nvSpPr>
        <dsp:cNvPr id="0" name=""/>
        <dsp:cNvSpPr/>
      </dsp:nvSpPr>
      <dsp:spPr>
        <a:xfrm>
          <a:off x="836323" y="1813624"/>
          <a:ext cx="8389443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baseline="0" dirty="0"/>
            <a:t>Week 5-7: Case Analysis</a:t>
          </a:r>
          <a:endParaRPr lang="en-US" sz="1900" kern="1200" dirty="0"/>
        </a:p>
      </dsp:txBody>
      <dsp:txXfrm>
        <a:off x="836323" y="1813624"/>
        <a:ext cx="8389443" cy="724089"/>
      </dsp:txXfrm>
    </dsp:sp>
    <dsp:sp modelId="{29534C87-492D-4EDA-89D4-EF38716317CA}">
      <dsp:nvSpPr>
        <dsp:cNvPr id="0" name=""/>
        <dsp:cNvSpPr/>
      </dsp:nvSpPr>
      <dsp:spPr>
        <a:xfrm>
          <a:off x="0" y="2718736"/>
          <a:ext cx="9225767" cy="72408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3A09E2F-3B38-48E9-9A85-E9141AC8BBC6}">
      <dsp:nvSpPr>
        <dsp:cNvPr id="0" name=""/>
        <dsp:cNvSpPr/>
      </dsp:nvSpPr>
      <dsp:spPr>
        <a:xfrm>
          <a:off x="219037" y="2881656"/>
          <a:ext cx="398249" cy="39824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397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C48CE8-A2AD-4AA9-B7EB-BDD4F436A4BB}">
      <dsp:nvSpPr>
        <dsp:cNvPr id="0" name=""/>
        <dsp:cNvSpPr/>
      </dsp:nvSpPr>
      <dsp:spPr>
        <a:xfrm>
          <a:off x="836323" y="2718736"/>
          <a:ext cx="8389443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baseline="0" dirty="0"/>
            <a:t>Week 8-9: Draft Results</a:t>
          </a:r>
          <a:endParaRPr lang="en-US" sz="1900" kern="1200" dirty="0"/>
        </a:p>
      </dsp:txBody>
      <dsp:txXfrm>
        <a:off x="836323" y="2718736"/>
        <a:ext cx="8389443" cy="724089"/>
      </dsp:txXfrm>
    </dsp:sp>
    <dsp:sp modelId="{E9516079-F089-45E3-9C0B-6392365B6C8C}">
      <dsp:nvSpPr>
        <dsp:cNvPr id="0" name=""/>
        <dsp:cNvSpPr/>
      </dsp:nvSpPr>
      <dsp:spPr>
        <a:xfrm>
          <a:off x="0" y="3623848"/>
          <a:ext cx="9225767" cy="72408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0453B0C-CF4F-4B6F-8376-4464C420267D}">
      <dsp:nvSpPr>
        <dsp:cNvPr id="0" name=""/>
        <dsp:cNvSpPr/>
      </dsp:nvSpPr>
      <dsp:spPr>
        <a:xfrm>
          <a:off x="219037" y="3786768"/>
          <a:ext cx="398249" cy="39824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397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CBF352-9C59-48EF-BD6C-851F84AEEC00}">
      <dsp:nvSpPr>
        <dsp:cNvPr id="0" name=""/>
        <dsp:cNvSpPr/>
      </dsp:nvSpPr>
      <dsp:spPr>
        <a:xfrm>
          <a:off x="836323" y="3623848"/>
          <a:ext cx="8389443" cy="7240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633" tIns="76633" rIns="76633" bIns="7663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baseline="0" dirty="0"/>
            <a:t>Weeks 10-11: Final Submission</a:t>
          </a:r>
          <a:endParaRPr lang="en-US" sz="1900" kern="1200" dirty="0"/>
        </a:p>
      </dsp:txBody>
      <dsp:txXfrm>
        <a:off x="836323" y="3623848"/>
        <a:ext cx="8389443" cy="7240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HorizontalActionList">
  <dgm:title val="Horizontal Action List"/>
  <dgm:desc val="Used to show non-sequential or grouped lists of information. Works well with large amounts of text. All text has the same level of emphasis, and direction is not implied."/>
  <dgm:catLst>
    <dgm:cat type="list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 fact="0.6"/>
      <dgm:constr type="h" for="des" forName="composite" op="equ"/>
      <dgm:constr type="w" for="ch" forName="composite" refType="w"/>
      <dgm:constr type="w" for="des" forName="parTx"/>
      <dgm:constr type="h" for="des" forName="parTx" op="equ"/>
      <dgm:constr type="w" for="des" forName="desTx"/>
      <dgm:constr type="primFontSz" for="des" forName="parTx" val="54"/>
      <dgm:constr type="primFontSz" for="des" forName="desTx" refType="primFontSz" refFor="des" refForName="parTx" op="lte" fact="0.75"/>
      <dgm:constr type="h" for="des" forName="desTx" op="equ"/>
      <dgm:constr type="w" for="ch" forName="space" op="equ" val="3"/>
    </dgm:constrLst>
    <dgm:ruleLst>
      <dgm:rule type="w" for="ch" forName="composite" val="0" fact="NaN" max="NaN"/>
    </dgm:ruleLst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3"/>
            <dgm:constr type="h"/>
            <dgm:constr type="tMarg" refType="w" fact="0.224"/>
            <dgm:constr type="bMarg" refType="w" fact="0.224"/>
            <dgm:constr type="lMarg" refType="w" fact="0.224"/>
            <dgm:constr type="rMarg" refType="w" fact="0.224"/>
          </dgm:constrLst>
          <dgm:ruleLst>
            <dgm:rule type="h" val="INF" fact="NaN" max="NaN"/>
            <dgm:rule type="primFontSz" val="14" fact="NaN" max="NaN"/>
          </dgm:ruleLst>
        </dgm:layoutNode>
        <dgm:layoutNode name="desTx" styleLbl="alignAccFollowNode1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primFontSz" val="28"/>
            <dgm:constr type="tMarg" refType="w" fact="0.28"/>
            <dgm:constr type="bMarg" refType="w" fact="0.28"/>
            <dgm:constr type="lMarg" refType="w" fact="0.28"/>
            <dgm:constr type="rMarg" refType="w" fact="0.28"/>
          </dgm:constrLst>
          <dgm:ruleLst>
            <dgm:rule type="h" val="INF" fact="NaN" max="NaN"/>
            <dgm:rule type="primFontSz" val="11" fact="NaN" max="NaN"/>
          </dgm:ruleLst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56F68B-AB38-40CF-BD16-C133EF2DF96A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B56196-A0C8-403B-B552-73FBDF161E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6382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B56196-A0C8-403B-B552-73FBDF161ED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2510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AC5BEFD5-EA91-41AD-BCC2-DD7A6D0D905A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6D67F528-5183-4A5F-99AC-EDA319294FC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6675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BEFD5-EA91-41AD-BCC2-DD7A6D0D905A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7F528-5183-4A5F-99AC-EDA319294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30617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BEFD5-EA91-41AD-BCC2-DD7A6D0D905A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7F528-5183-4A5F-99AC-EDA319294FC4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61464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BEFD5-EA91-41AD-BCC2-DD7A6D0D905A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7F528-5183-4A5F-99AC-EDA319294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86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BEFD5-EA91-41AD-BCC2-DD7A6D0D905A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7F528-5183-4A5F-99AC-EDA319294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624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BEFD5-EA91-41AD-BCC2-DD7A6D0D905A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7F528-5183-4A5F-99AC-EDA319294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7355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BEFD5-EA91-41AD-BCC2-DD7A6D0D905A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7F528-5183-4A5F-99AC-EDA319294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1808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BEFD5-EA91-41AD-BCC2-DD7A6D0D905A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7F528-5183-4A5F-99AC-EDA319294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424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BEFD5-EA91-41AD-BCC2-DD7A6D0D905A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7F528-5183-4A5F-99AC-EDA319294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0619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BEFD5-EA91-41AD-BCC2-DD7A6D0D905A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7F528-5183-4A5F-99AC-EDA319294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8812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BEFD5-EA91-41AD-BCC2-DD7A6D0D905A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7F528-5183-4A5F-99AC-EDA319294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1451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AC5BEFD5-EA91-41AD-BCC2-DD7A6D0D905A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6D67F528-5183-4A5F-99AC-EDA319294F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388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svg"/><Relationship Id="rId7" Type="http://schemas.openxmlformats.org/officeDocument/2006/relationships/image" Target="../media/image19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svg"/><Relationship Id="rId4" Type="http://schemas.openxmlformats.org/officeDocument/2006/relationships/image" Target="../media/image16.png"/><Relationship Id="rId9" Type="http://schemas.openxmlformats.org/officeDocument/2006/relationships/image" Target="../media/image21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svg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svg"/><Relationship Id="rId4" Type="http://schemas.openxmlformats.org/officeDocument/2006/relationships/image" Target="../media/image40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C2E4D39-28E1-4FEF-1B71-3877BC7DFA6B}"/>
              </a:ext>
            </a:extLst>
          </p:cNvPr>
          <p:cNvSpPr/>
          <p:nvPr/>
        </p:nvSpPr>
        <p:spPr>
          <a:xfrm>
            <a:off x="6753749" y="836579"/>
            <a:ext cx="4766553" cy="54020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26561-E468-2B82-3188-A272E18D72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9549" y="1536281"/>
            <a:ext cx="6075527" cy="2387600"/>
          </a:xfrm>
        </p:spPr>
        <p:txBody>
          <a:bodyPr>
            <a:normAutofit/>
          </a:bodyPr>
          <a:lstStyle/>
          <a:p>
            <a:pPr algn="l"/>
            <a:r>
              <a:rPr lang="en-US" sz="4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Justice by Design: </a:t>
            </a:r>
            <a:br>
              <a:rPr lang="en-US" sz="4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4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Auditing Machine Learning in Suspect Profiling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2BDD50A-078B-DC51-FB6A-715E4C5B73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1698" y="4393221"/>
            <a:ext cx="5622777" cy="1417434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Matilda Nilsson</a:t>
            </a:r>
          </a:p>
          <a:p>
            <a:pPr algn="l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MSc Data Science</a:t>
            </a:r>
          </a:p>
          <a:p>
            <a:pPr algn="l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University of Essex</a:t>
            </a:r>
          </a:p>
          <a:p>
            <a:pPr algn="l"/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October 2025</a:t>
            </a:r>
          </a:p>
        </p:txBody>
      </p:sp>
      <p:pic>
        <p:nvPicPr>
          <p:cNvPr id="6" name="Graphic 5" descr="User with solid fill">
            <a:extLst>
              <a:ext uri="{FF2B5EF4-FFF2-40B4-BE49-F238E27FC236}">
                <a16:creationId xmlns:a16="http://schemas.microsoft.com/office/drawing/2014/main" id="{90C0A294-F730-8FA1-B722-48EC8E3B87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43830" y="1986388"/>
            <a:ext cx="2692400" cy="2692400"/>
          </a:xfrm>
          <a:prstGeom prst="rect">
            <a:avLst/>
          </a:prstGeom>
        </p:spPr>
      </p:pic>
      <p:pic>
        <p:nvPicPr>
          <p:cNvPr id="8" name="Graphic 7" descr="Cause And Effect with solid fill">
            <a:extLst>
              <a:ext uri="{FF2B5EF4-FFF2-40B4-BE49-F238E27FC236}">
                <a16:creationId xmlns:a16="http://schemas.microsoft.com/office/drawing/2014/main" id="{969F3BE6-0750-D64A-60FE-E300FB1F432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98958" y="3222861"/>
            <a:ext cx="2692399" cy="2911854"/>
          </a:xfrm>
          <a:prstGeom prst="rect">
            <a:avLst/>
          </a:prstGeom>
        </p:spPr>
      </p:pic>
      <p:pic>
        <p:nvPicPr>
          <p:cNvPr id="10" name="Graphic 9" descr="Cause And Effect with solid fill">
            <a:extLst>
              <a:ext uri="{FF2B5EF4-FFF2-40B4-BE49-F238E27FC236}">
                <a16:creationId xmlns:a16="http://schemas.microsoft.com/office/drawing/2014/main" id="{BEEED482-99B2-D7F6-9E21-8D84BBF7732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flipV="1">
            <a:off x="6876353" y="943983"/>
            <a:ext cx="2937608" cy="2840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7758685"/>
      </p:ext>
    </p:extLst>
  </p:cSld>
  <p:clrMapOvr>
    <a:masterClrMapping/>
  </p:clrMapOvr>
  <p:transition spd="slow" advTm="51735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EC16AFD-1760-3FCE-5FB7-89D66AE7C020}"/>
              </a:ext>
            </a:extLst>
          </p:cNvPr>
          <p:cNvSpPr/>
          <p:nvPr/>
        </p:nvSpPr>
        <p:spPr>
          <a:xfrm>
            <a:off x="7391400" y="887379"/>
            <a:ext cx="3073400" cy="51705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A9DEF0-1879-7235-3793-1D6998AA5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067" y="1067981"/>
            <a:ext cx="6151112" cy="1325562"/>
          </a:xfrm>
        </p:spPr>
        <p:txBody>
          <a:bodyPr/>
          <a:lstStyle/>
          <a:p>
            <a:r>
              <a:rPr lang="en-US" dirty="0"/>
              <a:t>Profiling in Criminal Justice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C0ECEB-F216-9013-929B-2BE5DB0095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6067" y="2515617"/>
            <a:ext cx="8595360" cy="3897681"/>
          </a:xfrm>
        </p:spPr>
        <p:txBody>
          <a:bodyPr/>
          <a:lstStyle/>
          <a:p>
            <a:r>
              <a:rPr lang="en-US" dirty="0"/>
              <a:t>Past vs. Present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Rise of Machine Learning</a:t>
            </a:r>
          </a:p>
          <a:p>
            <a:endParaRPr lang="en-US" dirty="0"/>
          </a:p>
          <a:p>
            <a:r>
              <a:rPr lang="en-US" dirty="0"/>
              <a:t>Tensions: Efficiency vs. Fairness</a:t>
            </a:r>
          </a:p>
        </p:txBody>
      </p:sp>
      <p:pic>
        <p:nvPicPr>
          <p:cNvPr id="2050" name="Picture 2" descr="Man in Black Long Sleeve Suit Looking at Photographs on the Wall · Free  Stock Photo">
            <a:extLst>
              <a:ext uri="{FF2B5EF4-FFF2-40B4-BE49-F238E27FC236}">
                <a16:creationId xmlns:a16="http://schemas.microsoft.com/office/drawing/2014/main" id="{F310B73C-1B7B-7E14-E329-8D5A0C0D38F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635"/>
          <a:stretch>
            <a:fillRect/>
          </a:stretch>
        </p:blipFill>
        <p:spPr bwMode="auto">
          <a:xfrm>
            <a:off x="7639811" y="1067981"/>
            <a:ext cx="2633649" cy="2361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Advanced Convolution Neural Network | AI Art Generator | Easy-Peasy.AI">
            <a:extLst>
              <a:ext uri="{FF2B5EF4-FFF2-40B4-BE49-F238E27FC236}">
                <a16:creationId xmlns:a16="http://schemas.microsoft.com/office/drawing/2014/main" id="{38FADBA6-0BEC-1A5A-54EE-387D9B86DCE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352"/>
          <a:stretch>
            <a:fillRect/>
          </a:stretch>
        </p:blipFill>
        <p:spPr bwMode="auto">
          <a:xfrm>
            <a:off x="7639812" y="3548911"/>
            <a:ext cx="2633648" cy="23610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948928"/>
      </p:ext>
    </p:extLst>
  </p:cSld>
  <p:clrMapOvr>
    <a:masterClrMapping/>
  </p:clrMapOvr>
  <p:transition spd="slow" advTm="85152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C5321-B405-D7C7-A0F7-75C808A543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49D8DB-2E4A-391B-715E-51A585F3D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067" y="1067981"/>
            <a:ext cx="6151112" cy="1325562"/>
          </a:xfrm>
        </p:spPr>
        <p:txBody>
          <a:bodyPr/>
          <a:lstStyle/>
          <a:p>
            <a:r>
              <a:rPr lang="en-US" dirty="0"/>
              <a:t>Research Problems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854496-5AE7-769C-4CCA-7850D09FFF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6067" y="2515617"/>
            <a:ext cx="6847226" cy="3897681"/>
          </a:xfrm>
        </p:spPr>
        <p:txBody>
          <a:bodyPr/>
          <a:lstStyle/>
          <a:p>
            <a:r>
              <a:rPr lang="en-US" dirty="0"/>
              <a:t>Traditional Profiling: subjective, inconsistent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ML Profiling: scalable but risks bias, opacity</a:t>
            </a:r>
          </a:p>
          <a:p>
            <a:endParaRPr lang="en-US" dirty="0"/>
          </a:p>
          <a:p>
            <a:r>
              <a:rPr lang="en-US" dirty="0"/>
              <a:t>Gap: Few frameworks for auditing fairness and accountability</a:t>
            </a:r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F53B057F-5414-CA4D-E1D1-19A91D25BC21}"/>
              </a:ext>
            </a:extLst>
          </p:cNvPr>
          <p:cNvSpPr/>
          <p:nvPr/>
        </p:nvSpPr>
        <p:spPr>
          <a:xfrm>
            <a:off x="7700988" y="1607656"/>
            <a:ext cx="2844344" cy="2452021"/>
          </a:xfrm>
          <a:prstGeom prst="triangl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D6014C-3AEA-26CA-1BBC-A0954AF4492B}"/>
              </a:ext>
            </a:extLst>
          </p:cNvPr>
          <p:cNvSpPr txBox="1"/>
          <p:nvPr/>
        </p:nvSpPr>
        <p:spPr>
          <a:xfrm>
            <a:off x="8706218" y="1330657"/>
            <a:ext cx="83388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Accuracy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0C5777-A983-F891-73F0-2B709C8CE92D}"/>
              </a:ext>
            </a:extLst>
          </p:cNvPr>
          <p:cNvSpPr txBox="1"/>
          <p:nvPr/>
        </p:nvSpPr>
        <p:spPr>
          <a:xfrm>
            <a:off x="10433599" y="4059677"/>
            <a:ext cx="4988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Bias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FA2BA94-618F-9B6A-87ED-6126A0F0DD7B}"/>
              </a:ext>
            </a:extLst>
          </p:cNvPr>
          <p:cNvSpPr txBox="1"/>
          <p:nvPr/>
        </p:nvSpPr>
        <p:spPr>
          <a:xfrm>
            <a:off x="6977235" y="4013510"/>
            <a:ext cx="11721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Transparency</a:t>
            </a:r>
          </a:p>
        </p:txBody>
      </p:sp>
    </p:spTree>
    <p:extLst>
      <p:ext uri="{BB962C8B-B14F-4D97-AF65-F5344CB8AC3E}">
        <p14:creationId xmlns:p14="http://schemas.microsoft.com/office/powerpoint/2010/main" val="558195414"/>
      </p:ext>
    </p:extLst>
  </p:cSld>
  <p:clrMapOvr>
    <a:masterClrMapping/>
  </p:clrMapOvr>
  <p:transition spd="slow" advTm="106449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1426B87-FED7-3E2A-2B6B-B395FA73C304}"/>
              </a:ext>
            </a:extLst>
          </p:cNvPr>
          <p:cNvSpPr/>
          <p:nvPr/>
        </p:nvSpPr>
        <p:spPr>
          <a:xfrm>
            <a:off x="0" y="5038929"/>
            <a:ext cx="11292840" cy="1819072"/>
          </a:xfrm>
          <a:prstGeom prst="rect">
            <a:avLst/>
          </a:prstGeom>
          <a:solidFill>
            <a:srgbClr val="353537"/>
          </a:solidFill>
          <a:ln>
            <a:solidFill>
              <a:srgbClr val="35353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53537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B6D324E-2D03-4162-AF1E-D5E32234E2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440CD4-B680-1122-3458-9A3823859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0464" y="645106"/>
            <a:ext cx="4534047" cy="142253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 dirty="0">
                <a:solidFill>
                  <a:schemeClr val="tx1"/>
                </a:solidFill>
              </a:rPr>
              <a:t>Research Question	</a:t>
            </a:r>
          </a:p>
        </p:txBody>
      </p:sp>
      <p:pic>
        <p:nvPicPr>
          <p:cNvPr id="7" name="Picture Placeholder 6" descr="A statue of a person holding a scale&#10;&#10;AI-generated content may be incorrect.">
            <a:extLst>
              <a:ext uri="{FF2B5EF4-FFF2-40B4-BE49-F238E27FC236}">
                <a16:creationId xmlns:a16="http://schemas.microsoft.com/office/drawing/2014/main" id="{43439DAB-B4A7-1FEB-2DA1-D3A1ADE5F4CA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8" r="35700" b="-1"/>
          <a:stretch>
            <a:fillRect/>
          </a:stretch>
        </p:blipFill>
        <p:spPr>
          <a:xfrm>
            <a:off x="643192" y="645106"/>
            <a:ext cx="5451627" cy="5535031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60308A-2ABD-B0E9-A395-59DDC70659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20463" y="2455332"/>
            <a:ext cx="4572002" cy="3724805"/>
          </a:xfrm>
        </p:spPr>
        <p:txBody>
          <a:bodyPr vert="horz" lIns="91440" tIns="45720" rIns="91440" bIns="45720" rtlCol="0">
            <a:normAutofit/>
          </a:bodyPr>
          <a:lstStyle/>
          <a:p>
            <a:pPr indent="-182880"/>
            <a:r>
              <a:rPr lang="en-US" sz="2000" dirty="0">
                <a:solidFill>
                  <a:schemeClr val="tx1"/>
                </a:solidFill>
              </a:rPr>
              <a:t>How can ML-based suspect profiling be critically evaluated to ensure fairness, accountability, and ethical compliance?</a:t>
            </a:r>
          </a:p>
        </p:txBody>
      </p:sp>
    </p:spTree>
    <p:extLst>
      <p:ext uri="{BB962C8B-B14F-4D97-AF65-F5344CB8AC3E}">
        <p14:creationId xmlns:p14="http://schemas.microsoft.com/office/powerpoint/2010/main" val="1883459932"/>
      </p:ext>
    </p:extLst>
  </p:cSld>
  <p:clrMapOvr>
    <a:masterClrMapping/>
  </p:clrMapOvr>
  <p:transition spd="slow" advTm="50806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4374D0-D79B-DF2F-1F0C-F1D0A0F8E5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3C9FB-60DE-F3A6-7C3E-A597B88154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067" y="1067981"/>
            <a:ext cx="6151112" cy="1325562"/>
          </a:xfrm>
        </p:spPr>
        <p:txBody>
          <a:bodyPr/>
          <a:lstStyle/>
          <a:p>
            <a:r>
              <a:rPr lang="en-US" dirty="0"/>
              <a:t>Aim &amp; Objective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252644-27E4-CEC9-B345-9EA2EC4FE5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6067" y="2515618"/>
            <a:ext cx="6847226" cy="2789200"/>
          </a:xfrm>
        </p:spPr>
        <p:txBody>
          <a:bodyPr/>
          <a:lstStyle/>
          <a:p>
            <a:r>
              <a:rPr lang="en-US" dirty="0"/>
              <a:t>Aim: Develop framework to audit ML profiling for fairness</a:t>
            </a:r>
          </a:p>
          <a:p>
            <a:r>
              <a:rPr lang="en-US" dirty="0"/>
              <a:t>Objectives:</a:t>
            </a:r>
          </a:p>
          <a:p>
            <a:pPr lvl="1"/>
            <a:r>
              <a:rPr lang="en-US" dirty="0"/>
              <a:t>Review profiling &amp; ML literature</a:t>
            </a:r>
          </a:p>
          <a:p>
            <a:pPr lvl="1"/>
            <a:r>
              <a:rPr lang="en-US" dirty="0"/>
              <a:t>Identify fairness/accountability principles</a:t>
            </a:r>
          </a:p>
          <a:p>
            <a:pPr lvl="1"/>
            <a:r>
              <a:rPr lang="en-US" dirty="0"/>
              <a:t>Design evaluation framework</a:t>
            </a:r>
          </a:p>
          <a:p>
            <a:pPr lvl="1"/>
            <a:r>
              <a:rPr lang="en-US" dirty="0"/>
              <a:t>Illustrate framework via case study</a:t>
            </a:r>
          </a:p>
          <a:p>
            <a:pPr lvl="1"/>
            <a:r>
              <a:rPr lang="en-US" dirty="0"/>
              <a:t>Critically assess implication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496E07F5-6EA2-71DE-38AE-18BC0E181ADD}"/>
              </a:ext>
            </a:extLst>
          </p:cNvPr>
          <p:cNvSpPr/>
          <p:nvPr/>
        </p:nvSpPr>
        <p:spPr>
          <a:xfrm>
            <a:off x="3248465" y="5566166"/>
            <a:ext cx="680936" cy="155643"/>
          </a:xfrm>
          <a:prstGeom prst="rightArrow">
            <a:avLst/>
          </a:prstGeom>
          <a:solidFill>
            <a:schemeClr val="accent2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9D8AF42A-C08D-1D3C-C54B-927B4B1C25BC}"/>
              </a:ext>
            </a:extLst>
          </p:cNvPr>
          <p:cNvSpPr/>
          <p:nvPr/>
        </p:nvSpPr>
        <p:spPr>
          <a:xfrm>
            <a:off x="5454267" y="5566166"/>
            <a:ext cx="680936" cy="155643"/>
          </a:xfrm>
          <a:prstGeom prst="rightArrow">
            <a:avLst/>
          </a:prstGeom>
          <a:solidFill>
            <a:schemeClr val="accent3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4F9C526B-C117-D241-D275-B592E66C1427}"/>
              </a:ext>
            </a:extLst>
          </p:cNvPr>
          <p:cNvSpPr/>
          <p:nvPr/>
        </p:nvSpPr>
        <p:spPr>
          <a:xfrm>
            <a:off x="7558991" y="5566166"/>
            <a:ext cx="680936" cy="155643"/>
          </a:xfrm>
          <a:prstGeom prst="rightArrow">
            <a:avLst/>
          </a:prstGeom>
          <a:solidFill>
            <a:schemeClr val="accent4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4418B40-AA3F-0E2F-FDB9-AAA96B99563C}"/>
              </a:ext>
            </a:extLst>
          </p:cNvPr>
          <p:cNvSpPr txBox="1"/>
          <p:nvPr/>
        </p:nvSpPr>
        <p:spPr>
          <a:xfrm>
            <a:off x="1952918" y="5443110"/>
            <a:ext cx="12955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Literature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370EA7F-8D3E-2ABF-843C-885A56E9B3EB}"/>
              </a:ext>
            </a:extLst>
          </p:cNvPr>
          <p:cNvSpPr txBox="1"/>
          <p:nvPr/>
        </p:nvSpPr>
        <p:spPr>
          <a:xfrm>
            <a:off x="3979940" y="5439866"/>
            <a:ext cx="14237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Framework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E859D64-8DE6-371C-78B5-8FD93B352646}"/>
              </a:ext>
            </a:extLst>
          </p:cNvPr>
          <p:cNvSpPr txBox="1"/>
          <p:nvPr/>
        </p:nvSpPr>
        <p:spPr>
          <a:xfrm>
            <a:off x="6185742" y="5439866"/>
            <a:ext cx="13628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Evaluation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E204211-CFD8-D00C-D769-E6AE57118C28}"/>
              </a:ext>
            </a:extLst>
          </p:cNvPr>
          <p:cNvSpPr txBox="1"/>
          <p:nvPr/>
        </p:nvSpPr>
        <p:spPr>
          <a:xfrm>
            <a:off x="8250302" y="5426893"/>
            <a:ext cx="938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Impact</a:t>
            </a:r>
          </a:p>
        </p:txBody>
      </p:sp>
    </p:spTree>
    <p:extLst>
      <p:ext uri="{BB962C8B-B14F-4D97-AF65-F5344CB8AC3E}">
        <p14:creationId xmlns:p14="http://schemas.microsoft.com/office/powerpoint/2010/main" val="3579083946"/>
      </p:ext>
    </p:extLst>
  </p:cSld>
  <p:clrMapOvr>
    <a:masterClrMapping/>
  </p:clrMapOvr>
  <p:transition spd="slow" advTm="57845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D6E206-3BEB-199A-B508-D2F581F292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A70A4-6202-B2F9-AFDF-788F76073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238" y="1141254"/>
            <a:ext cx="9692640" cy="1325562"/>
          </a:xfrm>
        </p:spPr>
        <p:txBody>
          <a:bodyPr>
            <a:normAutofit/>
          </a:bodyPr>
          <a:lstStyle/>
          <a:p>
            <a:r>
              <a:rPr lang="en-US" dirty="0"/>
              <a:t>Literature Foundations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96ABCD-8AF9-A04C-FEB9-70298876FB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5152" y="2253615"/>
            <a:ext cx="4401509" cy="4246562"/>
          </a:xfrm>
        </p:spPr>
        <p:txBody>
          <a:bodyPr>
            <a:normAutofit/>
          </a:bodyPr>
          <a:lstStyle/>
          <a:p>
            <a:pPr marL="274320" lvl="1" indent="0">
              <a:buNone/>
            </a:pPr>
            <a:r>
              <a:rPr lang="en-US" b="1" dirty="0"/>
              <a:t>Psychological profiling: </a:t>
            </a:r>
            <a:endParaRPr lang="en-US" dirty="0"/>
          </a:p>
          <a:p>
            <a:pPr marL="274320" lvl="1" indent="0">
              <a:buNone/>
            </a:pPr>
            <a:r>
              <a:rPr lang="en-US" dirty="0"/>
              <a:t>Kocsis (2004) </a:t>
            </a:r>
          </a:p>
          <a:p>
            <a:pPr marL="274320" lvl="1" indent="0">
              <a:buNone/>
            </a:pPr>
            <a:r>
              <a:rPr lang="en-US" dirty="0" err="1"/>
              <a:t>Kapardis</a:t>
            </a:r>
            <a:r>
              <a:rPr lang="en-US" dirty="0"/>
              <a:t> (2024)</a:t>
            </a:r>
          </a:p>
          <a:p>
            <a:pPr marL="274320" lvl="1" indent="0">
              <a:buNone/>
            </a:pPr>
            <a:endParaRPr lang="en-US" dirty="0"/>
          </a:p>
          <a:p>
            <a:pPr marL="274320" lvl="1" indent="0">
              <a:buNone/>
            </a:pPr>
            <a:r>
              <a:rPr lang="en-US" b="1" dirty="0"/>
              <a:t>ML applications:</a:t>
            </a:r>
            <a:endParaRPr lang="en-US" dirty="0"/>
          </a:p>
          <a:p>
            <a:pPr marL="274320" lvl="1" indent="0">
              <a:buNone/>
            </a:pPr>
            <a:r>
              <a:rPr lang="en-US" dirty="0" err="1"/>
              <a:t>Bokolo</a:t>
            </a:r>
            <a:r>
              <a:rPr lang="en-US" dirty="0"/>
              <a:t> et al. (2023)</a:t>
            </a:r>
          </a:p>
          <a:p>
            <a:pPr marL="274320" lvl="1" indent="0">
              <a:buNone/>
            </a:pPr>
            <a:r>
              <a:rPr lang="en-US" dirty="0" err="1"/>
              <a:t>Dekalbab</a:t>
            </a:r>
            <a:r>
              <a:rPr lang="en-US" dirty="0"/>
              <a:t> et al. (2022)</a:t>
            </a:r>
          </a:p>
          <a:p>
            <a:pPr marL="274320" lvl="1" indent="0">
              <a:buNone/>
            </a:pPr>
            <a:endParaRPr lang="en-US" dirty="0"/>
          </a:p>
          <a:p>
            <a:pPr marL="274320" lvl="1" indent="0">
              <a:buNone/>
            </a:pPr>
            <a:r>
              <a:rPr lang="en-US" b="1" dirty="0"/>
              <a:t>Ethical/legal critiques:</a:t>
            </a:r>
            <a:endParaRPr lang="en-US" dirty="0"/>
          </a:p>
          <a:p>
            <a:pPr marL="274320" lvl="1" indent="0">
              <a:buNone/>
            </a:pPr>
            <a:r>
              <a:rPr lang="en-US" dirty="0"/>
              <a:t>Almeida et al. (2021)</a:t>
            </a:r>
          </a:p>
          <a:p>
            <a:pPr marL="274320" lvl="1" indent="0">
              <a:buNone/>
            </a:pPr>
            <a:r>
              <a:rPr lang="en-US" dirty="0"/>
              <a:t>GDPR (EU Parliament, 2020)</a:t>
            </a:r>
          </a:p>
          <a:p>
            <a:pPr lvl="1"/>
            <a:endParaRPr lang="en-US" dirty="0"/>
          </a:p>
          <a:p>
            <a:pPr marL="274320" lvl="1" indent="0">
              <a:buNone/>
            </a:pPr>
            <a:endParaRPr lang="en-US" dirty="0"/>
          </a:p>
          <a:p>
            <a:pPr marL="274320" lvl="1" indent="0">
              <a:buNone/>
            </a:pPr>
            <a:endParaRPr lang="en-US" dirty="0"/>
          </a:p>
          <a:p>
            <a:pPr marL="274320" lvl="1" indent="0">
              <a:buNone/>
            </a:pPr>
            <a:endParaRPr lang="en-US" dirty="0"/>
          </a:p>
          <a:p>
            <a:pPr marL="274320" lvl="1" indent="0">
              <a:buNone/>
            </a:pPr>
            <a:endParaRPr lang="en-US" dirty="0"/>
          </a:p>
        </p:txBody>
      </p:sp>
      <p:pic>
        <p:nvPicPr>
          <p:cNvPr id="10" name="Graphic 9" descr="Person with Idea">
            <a:extLst>
              <a:ext uri="{FF2B5EF4-FFF2-40B4-BE49-F238E27FC236}">
                <a16:creationId xmlns:a16="http://schemas.microsoft.com/office/drawing/2014/main" id="{6A41D67E-F8FE-7FE3-7ED7-64DFC0E7AF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40666" y="1609064"/>
            <a:ext cx="3639872" cy="3639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244070"/>
      </p:ext>
    </p:extLst>
  </p:cSld>
  <p:clrMapOvr>
    <a:masterClrMapping/>
  </p:clrMapOvr>
  <p:transition spd="slow" advTm="100699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CE5898-77CF-01C1-50FC-EDC3CE4F9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14E4DD-8BB8-97E4-DCA5-4A8B4138A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7061" y="1051560"/>
            <a:ext cx="9692640" cy="1325562"/>
          </a:xfrm>
        </p:spPr>
        <p:txBody>
          <a:bodyPr>
            <a:normAutofit/>
          </a:bodyPr>
          <a:lstStyle/>
          <a:p>
            <a:r>
              <a:rPr lang="en-US" dirty="0"/>
              <a:t>Key Debates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D2723C-87BD-498A-2985-4350710764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8952" y="2177415"/>
            <a:ext cx="4401509" cy="4246562"/>
          </a:xfrm>
        </p:spPr>
        <p:txBody>
          <a:bodyPr>
            <a:normAutofit/>
          </a:bodyPr>
          <a:lstStyle/>
          <a:p>
            <a:r>
              <a:rPr lang="en-US" dirty="0"/>
              <a:t>Predictive utility vs fairness</a:t>
            </a:r>
          </a:p>
          <a:p>
            <a:endParaRPr lang="en-US" dirty="0"/>
          </a:p>
          <a:p>
            <a:r>
              <a:rPr lang="en-US" dirty="0"/>
              <a:t>Transparency vs black-box models</a:t>
            </a:r>
          </a:p>
          <a:p>
            <a:endParaRPr lang="en-US" dirty="0"/>
          </a:p>
          <a:p>
            <a:r>
              <a:rPr lang="en-US" dirty="0"/>
              <a:t>Human oversight vs automation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7" name="Graphic 6" descr="Scales of Justice">
            <a:extLst>
              <a:ext uri="{FF2B5EF4-FFF2-40B4-BE49-F238E27FC236}">
                <a16:creationId xmlns:a16="http://schemas.microsoft.com/office/drawing/2014/main" id="{60B0979A-8866-1AB6-70AB-54C907B438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63526" y="1346835"/>
            <a:ext cx="3639872" cy="3639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2109460"/>
      </p:ext>
    </p:extLst>
  </p:cSld>
  <p:clrMapOvr>
    <a:masterClrMapping/>
  </p:clrMapOvr>
  <p:transition spd="slow" advTm="88050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4B1BA7-E33B-D468-744A-E064CC0D1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76248C8-0720-48AB-91BA-5F530BB41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2209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39737F-257C-C356-3C71-61A339C34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6808" y="899160"/>
            <a:ext cx="9858383" cy="1325562"/>
          </a:xfrm>
        </p:spPr>
        <p:txBody>
          <a:bodyPr>
            <a:normAutofit/>
          </a:bodyPr>
          <a:lstStyle/>
          <a:p>
            <a:r>
              <a:rPr lang="en-US" dirty="0"/>
              <a:t>Methodology</a:t>
            </a:r>
            <a:br>
              <a:rPr lang="en-US" dirty="0"/>
            </a:b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23BEDA7-D0B8-4802-8168-92452653B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EFF34B-7B1A-4F9D-8CEE-A40962BC7C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763724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667FA731-B5F0-77D4-A784-B623EEC001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40950606"/>
              </p:ext>
            </p:extLst>
          </p:nvPr>
        </p:nvGraphicFramePr>
        <p:xfrm>
          <a:off x="1262063" y="2013055"/>
          <a:ext cx="9858191" cy="42014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12686719"/>
      </p:ext>
    </p:extLst>
  </p:cSld>
  <p:clrMapOvr>
    <a:masterClrMapping/>
  </p:clrMapOvr>
  <p:transition spd="slow" advTm="81615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F2EAB4AB-AC96-8590-05BF-7789EE67D8F0}"/>
              </a:ext>
            </a:extLst>
          </p:cNvPr>
          <p:cNvSpPr txBox="1">
            <a:spLocks/>
          </p:cNvSpPr>
          <p:nvPr/>
        </p:nvSpPr>
        <p:spPr>
          <a:xfrm>
            <a:off x="716067" y="890401"/>
            <a:ext cx="9858383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Reflexivity and Limitations</a:t>
            </a:r>
            <a:br>
              <a:rPr lang="en-US" dirty="0"/>
            </a:br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ABBD7D8-E171-1A5F-9869-D8D7F8B37956}"/>
              </a:ext>
            </a:extLst>
          </p:cNvPr>
          <p:cNvSpPr txBox="1">
            <a:spLocks/>
          </p:cNvSpPr>
          <p:nvPr/>
        </p:nvSpPr>
        <p:spPr>
          <a:xfrm>
            <a:off x="716067" y="2515618"/>
            <a:ext cx="6847226" cy="2789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No live policing systems.</a:t>
            </a:r>
          </a:p>
          <a:p>
            <a:r>
              <a:rPr lang="en-US" dirty="0"/>
              <a:t>Cannot test proprietary algorithms directly</a:t>
            </a:r>
          </a:p>
          <a:p>
            <a:r>
              <a:rPr lang="en-US" dirty="0"/>
              <a:t>Emphasize interpretive evaluation &gt; prediction accuracy</a:t>
            </a:r>
          </a:p>
          <a:p>
            <a:r>
              <a:rPr lang="en-US" dirty="0"/>
              <a:t>Mitigated risk through critical, document-based analysis</a:t>
            </a:r>
          </a:p>
          <a:p>
            <a:r>
              <a:rPr lang="en-US" dirty="0"/>
              <a:t>Empirical validation = future research stage</a:t>
            </a:r>
          </a:p>
        </p:txBody>
      </p:sp>
      <p:pic>
        <p:nvPicPr>
          <p:cNvPr id="9" name="Graphic 8" descr="Clipboard with solid fill">
            <a:extLst>
              <a:ext uri="{FF2B5EF4-FFF2-40B4-BE49-F238E27FC236}">
                <a16:creationId xmlns:a16="http://schemas.microsoft.com/office/drawing/2014/main" id="{E062BC63-3588-275E-11DA-9E9B7C3887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45500" y="2590800"/>
            <a:ext cx="1676400" cy="167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708863"/>
      </p:ext>
    </p:extLst>
  </p:cSld>
  <p:clrMapOvr>
    <a:masterClrMapping/>
  </p:clrMapOvr>
  <p:transition spd="slow" advTm="72959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0E9704-0A9C-E0DE-80F5-2E7514378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76F9D-A61A-95A4-A045-71B9F9432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</p:spPr>
        <p:txBody>
          <a:bodyPr>
            <a:normAutofit/>
          </a:bodyPr>
          <a:lstStyle/>
          <a:p>
            <a:r>
              <a:rPr lang="en-US"/>
              <a:t>Research Design Framework</a:t>
            </a:r>
          </a:p>
        </p:txBody>
      </p:sp>
      <p:graphicFrame>
        <p:nvGraphicFramePr>
          <p:cNvPr id="12" name="Content Placeholder 3">
            <a:extLst>
              <a:ext uri="{FF2B5EF4-FFF2-40B4-BE49-F238E27FC236}">
                <a16:creationId xmlns:a16="http://schemas.microsoft.com/office/drawing/2014/main" id="{24539955-085D-7054-16C9-EB991BCC05D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05519868"/>
              </p:ext>
            </p:extLst>
          </p:nvPr>
        </p:nvGraphicFramePr>
        <p:xfrm>
          <a:off x="1262063" y="2013055"/>
          <a:ext cx="8785735" cy="42014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64345186"/>
      </p:ext>
    </p:extLst>
  </p:cSld>
  <p:clrMapOvr>
    <a:masterClrMapping/>
  </p:clrMapOvr>
  <p:transition spd="slow" advTm="54374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1019B2-92EC-EB15-4713-2751B8050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12CC7-5E30-F8DE-775F-5D12BFD6D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6067" y="1067981"/>
            <a:ext cx="6151112" cy="1325562"/>
          </a:xfrm>
        </p:spPr>
        <p:txBody>
          <a:bodyPr/>
          <a:lstStyle/>
          <a:p>
            <a:r>
              <a:rPr lang="en-US" dirty="0"/>
              <a:t>Artefact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73AAAA-E99E-A55E-D9E2-583C212090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6067" y="2515618"/>
            <a:ext cx="6847226" cy="2789200"/>
          </a:xfrm>
        </p:spPr>
        <p:txBody>
          <a:bodyPr/>
          <a:lstStyle/>
          <a:p>
            <a:r>
              <a:rPr lang="en-US" dirty="0"/>
              <a:t>Output: conceptual audit framework</a:t>
            </a:r>
          </a:p>
          <a:p>
            <a:pPr lvl="1"/>
            <a:r>
              <a:rPr lang="en-US" dirty="0"/>
              <a:t>Criteria + workflow to assess ML profiling systems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Deliverable: diagrammatic framework, not deployed system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15" name="Graphic 14" descr="Research with solid fill">
            <a:extLst>
              <a:ext uri="{FF2B5EF4-FFF2-40B4-BE49-F238E27FC236}">
                <a16:creationId xmlns:a16="http://schemas.microsoft.com/office/drawing/2014/main" id="{E038879F-0175-8A29-733E-87652F9891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6112" y="4992504"/>
            <a:ext cx="769026" cy="769026"/>
          </a:xfrm>
          <a:prstGeom prst="rect">
            <a:avLst/>
          </a:prstGeom>
        </p:spPr>
      </p:pic>
      <p:pic>
        <p:nvPicPr>
          <p:cNvPr id="20" name="Graphic 19" descr="Table with solid fill">
            <a:extLst>
              <a:ext uri="{FF2B5EF4-FFF2-40B4-BE49-F238E27FC236}">
                <a16:creationId xmlns:a16="http://schemas.microsoft.com/office/drawing/2014/main" id="{6C9CC8F5-A9C1-F565-1875-57BB39E4F1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8200" y="4847618"/>
            <a:ext cx="914400" cy="914400"/>
          </a:xfrm>
          <a:prstGeom prst="rect">
            <a:avLst/>
          </a:prstGeom>
        </p:spPr>
      </p:pic>
      <p:pic>
        <p:nvPicPr>
          <p:cNvPr id="22" name="Graphic 21" descr="Database with solid fill">
            <a:extLst>
              <a:ext uri="{FF2B5EF4-FFF2-40B4-BE49-F238E27FC236}">
                <a16:creationId xmlns:a16="http://schemas.microsoft.com/office/drawing/2014/main" id="{EFA70716-2F97-1E4F-0807-59CC353FD65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740199" y="4923984"/>
            <a:ext cx="761667" cy="761667"/>
          </a:xfrm>
          <a:prstGeom prst="rect">
            <a:avLst/>
          </a:prstGeom>
        </p:spPr>
      </p:pic>
      <p:pic>
        <p:nvPicPr>
          <p:cNvPr id="24" name="Graphic 23" descr="Document with solid fill">
            <a:extLst>
              <a:ext uri="{FF2B5EF4-FFF2-40B4-BE49-F238E27FC236}">
                <a16:creationId xmlns:a16="http://schemas.microsoft.com/office/drawing/2014/main" id="{98085202-3BA8-02C8-7472-2A55E882F08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989636" y="4923984"/>
            <a:ext cx="769026" cy="769026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DCD22ADC-8449-0D80-2DB2-2DEF8DEBE1B6}"/>
              </a:ext>
            </a:extLst>
          </p:cNvPr>
          <p:cNvSpPr txBox="1"/>
          <p:nvPr/>
        </p:nvSpPr>
        <p:spPr>
          <a:xfrm>
            <a:off x="772509" y="5577352"/>
            <a:ext cx="13740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Input Data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1849500-84A7-77F0-D180-82BA8BA94EB7}"/>
              </a:ext>
            </a:extLst>
          </p:cNvPr>
          <p:cNvSpPr txBox="1"/>
          <p:nvPr/>
        </p:nvSpPr>
        <p:spPr>
          <a:xfrm>
            <a:off x="3550649" y="5576864"/>
            <a:ext cx="12747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ML Model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DE62F88-057B-0C83-40FA-F52F322A8601}"/>
              </a:ext>
            </a:extLst>
          </p:cNvPr>
          <p:cNvSpPr txBox="1"/>
          <p:nvPr/>
        </p:nvSpPr>
        <p:spPr>
          <a:xfrm>
            <a:off x="5726364" y="5576864"/>
            <a:ext cx="17796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Fairness Audit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42BA06C-FDCF-4A3F-BD76-6B325D4F99A0}"/>
              </a:ext>
            </a:extLst>
          </p:cNvPr>
          <p:cNvSpPr txBox="1"/>
          <p:nvPr/>
        </p:nvSpPr>
        <p:spPr>
          <a:xfrm>
            <a:off x="8115631" y="5577352"/>
            <a:ext cx="25170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Accountability Report</a:t>
            </a:r>
          </a:p>
        </p:txBody>
      </p:sp>
    </p:spTree>
    <p:extLst>
      <p:ext uri="{BB962C8B-B14F-4D97-AF65-F5344CB8AC3E}">
        <p14:creationId xmlns:p14="http://schemas.microsoft.com/office/powerpoint/2010/main" val="167568298"/>
      </p:ext>
    </p:extLst>
  </p:cSld>
  <p:clrMapOvr>
    <a:masterClrMapping/>
  </p:clrMapOvr>
  <p:transition spd="slow" advTm="56769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76507E-7A98-6E5C-F4A1-3589F00DE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3801627-6861-4EA9-BE98-E0CE33A894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643466" cy="6858000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3C1483F-490E-4C8A-8765-1F8AF0C67D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6" y="0"/>
            <a:ext cx="3736189" cy="6858000"/>
          </a:xfrm>
          <a:prstGeom prst="rect">
            <a:avLst/>
          </a:prstGeom>
          <a:solidFill>
            <a:srgbClr val="29292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A0C0D4-79AD-B88B-339F-094FD36A1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198" y="643466"/>
            <a:ext cx="3092718" cy="5528734"/>
          </a:xfrm>
          <a:noFill/>
        </p:spPr>
        <p:txBody>
          <a:bodyPr anchor="t">
            <a:normAutofit/>
          </a:bodyPr>
          <a:lstStyle/>
          <a:p>
            <a:r>
              <a:rPr lang="en-US" sz="2800">
                <a:solidFill>
                  <a:srgbClr val="FFFFFF"/>
                </a:solidFill>
              </a:rPr>
              <a:t>Ethics &amp; Risks</a:t>
            </a:r>
            <a:br>
              <a:rPr lang="en-US" sz="2800">
                <a:solidFill>
                  <a:srgbClr val="FFFFFF"/>
                </a:solidFill>
              </a:rPr>
            </a:br>
            <a:endParaRPr lang="en-US" sz="2800">
              <a:solidFill>
                <a:srgbClr val="FFFFFF"/>
              </a:solidFill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249BF42-D05C-4553-9417-7B8695759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379654" y="0"/>
            <a:ext cx="691318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A912A7-687A-9E0A-186B-03114A3122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1898" y="643466"/>
            <a:ext cx="5827472" cy="5571067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Risks: </a:t>
            </a:r>
          </a:p>
          <a:p>
            <a:pPr lvl="1"/>
            <a:r>
              <a:rPr lang="en-US" sz="2400" dirty="0"/>
              <a:t>Bias reinforcement</a:t>
            </a:r>
          </a:p>
          <a:p>
            <a:pPr lvl="1"/>
            <a:r>
              <a:rPr lang="en-US" sz="2400" dirty="0"/>
              <a:t>Misuse of findings</a:t>
            </a:r>
          </a:p>
          <a:p>
            <a:pPr lvl="1"/>
            <a:r>
              <a:rPr lang="en-US" sz="2400" dirty="0"/>
              <a:t>Sensitive data concerns</a:t>
            </a:r>
          </a:p>
          <a:p>
            <a:pPr marL="274320" lvl="1" indent="0">
              <a:buNone/>
            </a:pPr>
            <a:endParaRPr lang="en-US" sz="2400" dirty="0"/>
          </a:p>
          <a:p>
            <a:pPr marL="274320" lvl="1" indent="0">
              <a:buNone/>
            </a:pPr>
            <a:endParaRPr lang="en-US" sz="2400" dirty="0"/>
          </a:p>
          <a:p>
            <a:r>
              <a:rPr lang="en-US" sz="2400" dirty="0"/>
              <a:t>Mitigation</a:t>
            </a:r>
          </a:p>
          <a:p>
            <a:pPr lvl="1"/>
            <a:r>
              <a:rPr lang="en-US" sz="2400" dirty="0"/>
              <a:t>Secondary data only</a:t>
            </a:r>
          </a:p>
          <a:p>
            <a:pPr lvl="1"/>
            <a:r>
              <a:rPr lang="en-US" sz="2400" dirty="0"/>
              <a:t>Critical framing, not endorsement</a:t>
            </a:r>
          </a:p>
          <a:p>
            <a:pPr lvl="1"/>
            <a:r>
              <a:rPr lang="en-US" sz="2400" dirty="0"/>
              <a:t>Alignment with GDPR &amp; BCS Code</a:t>
            </a:r>
          </a:p>
          <a:p>
            <a:pPr lvl="1"/>
            <a:endParaRPr lang="en-US" sz="2400" dirty="0"/>
          </a:p>
          <a:p>
            <a:pPr marL="274320" lvl="1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800" i="1" dirty="0"/>
              <a:t>Ethics as foundation of research credibility</a:t>
            </a:r>
            <a:endParaRPr lang="en-US" sz="2600" i="1" dirty="0"/>
          </a:p>
          <a:p>
            <a:pPr lvl="1"/>
            <a:endParaRPr lang="en-US" sz="2400" dirty="0"/>
          </a:p>
          <a:p>
            <a:pPr lvl="1"/>
            <a:endParaRPr lang="en-US" sz="2400" dirty="0"/>
          </a:p>
        </p:txBody>
      </p:sp>
      <p:pic>
        <p:nvPicPr>
          <p:cNvPr id="5" name="Graphic 4" descr="Shield Cross with solid fill">
            <a:extLst>
              <a:ext uri="{FF2B5EF4-FFF2-40B4-BE49-F238E27FC236}">
                <a16:creationId xmlns:a16="http://schemas.microsoft.com/office/drawing/2014/main" id="{70BD498D-2AD2-DE9B-A0EE-0E6E69B4A4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2370" y="1805520"/>
            <a:ext cx="1552080" cy="1552080"/>
          </a:xfrm>
          <a:prstGeom prst="rect">
            <a:avLst/>
          </a:prstGeom>
        </p:spPr>
      </p:pic>
      <p:pic>
        <p:nvPicPr>
          <p:cNvPr id="7" name="Graphic 6" descr="Shield Tick with solid fill">
            <a:extLst>
              <a:ext uri="{FF2B5EF4-FFF2-40B4-BE49-F238E27FC236}">
                <a16:creationId xmlns:a16="http://schemas.microsoft.com/office/drawing/2014/main" id="{22A421B0-6281-00B2-29AD-3C133E499BA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77774" y="3594238"/>
            <a:ext cx="1465525" cy="1465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331836"/>
      </p:ext>
    </p:extLst>
  </p:cSld>
  <p:clrMapOvr>
    <a:masterClrMapping/>
  </p:clrMapOvr>
  <p:transition spd="slow" advTm="48402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95A38-9A11-E2EA-98FE-4E2E31169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0272" y="0"/>
            <a:ext cx="9692640" cy="1325562"/>
          </a:xfrm>
        </p:spPr>
        <p:txBody>
          <a:bodyPr>
            <a:normAutofit/>
          </a:bodyPr>
          <a:lstStyle/>
          <a:p>
            <a:r>
              <a:rPr lang="en-US" dirty="0"/>
              <a:t>Timeline 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53C71C-EE3C-44D8-8587-9A4D9D5CC5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FF31B9D-9554-1593-FA59-00B5B030667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15106037"/>
              </p:ext>
            </p:extLst>
          </p:nvPr>
        </p:nvGraphicFramePr>
        <p:xfrm>
          <a:off x="1261872" y="1714500"/>
          <a:ext cx="9225767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14154985"/>
      </p:ext>
    </p:extLst>
  </p:cSld>
  <p:clrMapOvr>
    <a:masterClrMapping/>
  </p:clrMapOvr>
  <p:transition spd="slow" advTm="17081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83179-14FD-7441-2600-810B1CCDF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</p:spPr>
        <p:txBody>
          <a:bodyPr>
            <a:normAutofit/>
          </a:bodyPr>
          <a:lstStyle/>
          <a:p>
            <a:r>
              <a:rPr lang="en-US" dirty="0"/>
              <a:t>Contribution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90E6C3-66C8-1453-098C-E3F5E46DC9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933575"/>
            <a:ext cx="5852160" cy="4246562"/>
          </a:xfrm>
        </p:spPr>
        <p:txBody>
          <a:bodyPr>
            <a:normAutofit/>
          </a:bodyPr>
          <a:lstStyle/>
          <a:p>
            <a:r>
              <a:rPr lang="en-US" dirty="0"/>
              <a:t>Framework for auditing ML profiling</a:t>
            </a:r>
          </a:p>
          <a:p>
            <a:endParaRPr lang="en-US" dirty="0"/>
          </a:p>
          <a:p>
            <a:r>
              <a:rPr lang="en-US" dirty="0"/>
              <a:t>Bridges gap between CS, criminology, &amp; ethics</a:t>
            </a:r>
          </a:p>
          <a:p>
            <a:endParaRPr lang="en-US" dirty="0"/>
          </a:p>
          <a:p>
            <a:r>
              <a:rPr lang="en-US" dirty="0"/>
              <a:t>Supports accountable use of AI in justice system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Graphic 4" descr="Venn diagram outline">
            <a:extLst>
              <a:ext uri="{FF2B5EF4-FFF2-40B4-BE49-F238E27FC236}">
                <a16:creationId xmlns:a16="http://schemas.microsoft.com/office/drawing/2014/main" id="{9A685D44-7D0A-21B1-AFEA-9970D60E02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25506" y="1478900"/>
            <a:ext cx="3304622" cy="3304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14494"/>
      </p:ext>
    </p:extLst>
  </p:cSld>
  <p:clrMapOvr>
    <a:masterClrMapping/>
  </p:clrMapOvr>
  <p:transition spd="slow" advTm="46089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6C4E7F-2CC1-17C4-4948-D243330D0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49798-3799-CEA1-BCB1-76409DC98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</p:spPr>
        <p:txBody>
          <a:bodyPr>
            <a:normAutofit/>
          </a:bodyPr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2E876-E566-877C-7940-41350F220A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933575"/>
            <a:ext cx="5852160" cy="4246562"/>
          </a:xfrm>
        </p:spPr>
        <p:txBody>
          <a:bodyPr>
            <a:normAutofit/>
          </a:bodyPr>
          <a:lstStyle/>
          <a:p>
            <a:r>
              <a:rPr lang="en-US" dirty="0"/>
              <a:t>Profiling = high stakes, must be fair &amp; transparent</a:t>
            </a:r>
          </a:p>
          <a:p>
            <a:endParaRPr lang="en-US" dirty="0"/>
          </a:p>
          <a:p>
            <a:r>
              <a:rPr lang="en-US" dirty="0"/>
              <a:t>ML brings promise but also risk</a:t>
            </a:r>
          </a:p>
          <a:p>
            <a:endParaRPr lang="en-US" dirty="0"/>
          </a:p>
          <a:p>
            <a:r>
              <a:rPr lang="en-US" dirty="0"/>
              <a:t>Proposed framework: towards “Justice By Design”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Graphic 5" descr="Scales of justice with solid fill">
            <a:extLst>
              <a:ext uri="{FF2B5EF4-FFF2-40B4-BE49-F238E27FC236}">
                <a16:creationId xmlns:a16="http://schemas.microsoft.com/office/drawing/2014/main" id="{D15E90DE-FC72-F9D9-47EF-9F36667565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66200" y="3291522"/>
            <a:ext cx="1752600" cy="1752600"/>
          </a:xfrm>
          <a:prstGeom prst="rect">
            <a:avLst/>
          </a:prstGeom>
        </p:spPr>
      </p:pic>
      <p:pic>
        <p:nvPicPr>
          <p:cNvPr id="10" name="Graphic 9" descr="Artificial Intelligence outline">
            <a:extLst>
              <a:ext uri="{FF2B5EF4-FFF2-40B4-BE49-F238E27FC236}">
                <a16:creationId xmlns:a16="http://schemas.microsoft.com/office/drawing/2014/main" id="{0595C736-EF72-F609-2C45-3E2052122F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31100" y="1373822"/>
            <a:ext cx="2070100" cy="207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941609"/>
      </p:ext>
    </p:extLst>
  </p:cSld>
  <p:clrMapOvr>
    <a:masterClrMapping/>
  </p:clrMapOvr>
  <p:transition spd="slow" advTm="44137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5F640-070B-5AED-BC71-1B724461C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072" y="-345440"/>
            <a:ext cx="9692640" cy="1325562"/>
          </a:xfrm>
        </p:spPr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E39B45-B305-3369-3076-658F52E271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4072" y="1253331"/>
            <a:ext cx="8595360" cy="4351337"/>
          </a:xfrm>
        </p:spPr>
        <p:txBody>
          <a:bodyPr>
            <a:noAutofit/>
          </a:bodyPr>
          <a:lstStyle/>
          <a:p>
            <a:r>
              <a:rPr lang="en-US" sz="1200" b="1" dirty="0"/>
              <a:t>Almeida, D., McStay, A. and Sutcliffe, A. (2021)</a:t>
            </a:r>
            <a:r>
              <a:rPr lang="en-US" sz="1200" dirty="0"/>
              <a:t>. </a:t>
            </a:r>
            <a:r>
              <a:rPr lang="en-US" sz="1200" i="1" dirty="0"/>
              <a:t>The ethics of facial recognition technologies, surveillance and society.</a:t>
            </a:r>
            <a:r>
              <a:rPr lang="en-US" sz="1200" dirty="0"/>
              <a:t> </a:t>
            </a:r>
            <a:r>
              <a:rPr lang="en-US" sz="1200" i="1" dirty="0"/>
              <a:t>Surveillance &amp; Society</a:t>
            </a:r>
            <a:r>
              <a:rPr lang="en-US" sz="1200" dirty="0"/>
              <a:t>, 19(2), pp.137–152. </a:t>
            </a:r>
            <a:r>
              <a:rPr lang="en-US" sz="1200" dirty="0" err="1"/>
              <a:t>doi</a:t>
            </a:r>
            <a:r>
              <a:rPr lang="en-US" sz="1200" dirty="0"/>
              <a:t>: 10.24908/ss.v19i2.14553</a:t>
            </a:r>
          </a:p>
          <a:p>
            <a:r>
              <a:rPr lang="en-US" sz="1200" b="1" dirty="0"/>
              <a:t>Angwin, J., Larson, J., Mattu, S. and Kirchner, L. (2016)</a:t>
            </a:r>
            <a:r>
              <a:rPr lang="en-US" sz="1200" dirty="0"/>
              <a:t>. </a:t>
            </a:r>
            <a:r>
              <a:rPr lang="en-US" sz="1200" i="1" dirty="0"/>
              <a:t>Machine Bias: There’s software used across the country to predict future criminals. And it’s biased against Black people.</a:t>
            </a:r>
            <a:r>
              <a:rPr lang="en-US" sz="1200" dirty="0"/>
              <a:t> ProPublica, 23 May. Available at: https://www.propublica.org/article/machine-bias-risk-assessments-in-criminal-sentencing (Accessed: 5 October 2025).</a:t>
            </a:r>
          </a:p>
          <a:p>
            <a:r>
              <a:rPr lang="en-US" sz="1200" b="1" dirty="0"/>
              <a:t>Bada, M. and Nurse, J.R.C. (2021)</a:t>
            </a:r>
            <a:r>
              <a:rPr lang="en-US" sz="1200" dirty="0"/>
              <a:t>. </a:t>
            </a:r>
            <a:r>
              <a:rPr lang="en-US" sz="1200" i="1" dirty="0"/>
              <a:t>Profiling the cybercriminal: A systematic review of research.</a:t>
            </a:r>
            <a:r>
              <a:rPr lang="en-US" sz="1200" dirty="0"/>
              <a:t> </a:t>
            </a:r>
            <a:r>
              <a:rPr lang="en-US" sz="1200" dirty="0" err="1"/>
              <a:t>arXiv</a:t>
            </a:r>
            <a:r>
              <a:rPr lang="en-US" sz="1200" dirty="0"/>
              <a:t> preprint arXiv:2105.02930. Available at: https://arxiv.org/abs/2105.02930 (Accessed: 5 October 2025).</a:t>
            </a:r>
          </a:p>
          <a:p>
            <a:r>
              <a:rPr lang="en-US" sz="1200" b="1" dirty="0" err="1"/>
              <a:t>Bokolo</a:t>
            </a:r>
            <a:r>
              <a:rPr lang="en-US" sz="1200" b="1" dirty="0"/>
              <a:t>, B.G., Chen, L. and Liu, Q. (2023)</a:t>
            </a:r>
            <a:r>
              <a:rPr lang="en-US" sz="1200" dirty="0"/>
              <a:t>. ‘Deep learning assisted cyber-criminal profiling’, in </a:t>
            </a:r>
            <a:r>
              <a:rPr lang="en-US" sz="1200" i="1" dirty="0"/>
              <a:t>Proceedings of the 2023 International Conference on Big Data and Artificial Intelligence (BDAI).</a:t>
            </a:r>
            <a:r>
              <a:rPr lang="en-US" sz="1200" dirty="0"/>
              <a:t> IEEE, pp. 100–106. </a:t>
            </a:r>
            <a:r>
              <a:rPr lang="en-US" sz="1200" dirty="0" err="1"/>
              <a:t>doi</a:t>
            </a:r>
            <a:r>
              <a:rPr lang="en-US" sz="1200" dirty="0"/>
              <a:t>: 10.1109/BDAI59024.2023.00023.</a:t>
            </a:r>
          </a:p>
          <a:p>
            <a:r>
              <a:rPr lang="en-US" sz="1200" b="1" dirty="0" err="1"/>
              <a:t>Dakalbab</a:t>
            </a:r>
            <a:r>
              <a:rPr lang="en-US" sz="1200" b="1" dirty="0"/>
              <a:t>, F., Abed, A., </a:t>
            </a:r>
            <a:r>
              <a:rPr lang="en-US" sz="1200" b="1" dirty="0" err="1"/>
              <a:t>Aljarah</a:t>
            </a:r>
            <a:r>
              <a:rPr lang="en-US" sz="1200" b="1" dirty="0"/>
              <a:t>, I., </a:t>
            </a:r>
            <a:r>
              <a:rPr lang="en-US" sz="1200" b="1" dirty="0" err="1"/>
              <a:t>Shatnawi</a:t>
            </a:r>
            <a:r>
              <a:rPr lang="en-US" sz="1200" b="1" dirty="0"/>
              <a:t>, M. and Rodan, A. (2022)</a:t>
            </a:r>
            <a:r>
              <a:rPr lang="en-US" sz="1200" dirty="0"/>
              <a:t>. ‘Artificial intelligence and crime prediction: A systematic review’, </a:t>
            </a:r>
            <a:r>
              <a:rPr lang="en-US" sz="1200" i="1" dirty="0"/>
              <a:t>Journal of Computational Science,</a:t>
            </a:r>
            <a:r>
              <a:rPr lang="en-US" sz="1200" dirty="0"/>
              <a:t> 62, p.101704. </a:t>
            </a:r>
            <a:r>
              <a:rPr lang="en-US" sz="1200" dirty="0" err="1"/>
              <a:t>doi</a:t>
            </a:r>
            <a:r>
              <a:rPr lang="en-US" sz="1200" dirty="0"/>
              <a:t>: 10.1016/j.jocs.2022.101704.</a:t>
            </a:r>
          </a:p>
          <a:p>
            <a:r>
              <a:rPr lang="en-US" sz="1200" b="1" dirty="0"/>
              <a:t>European Parliament (2020)</a:t>
            </a:r>
            <a:r>
              <a:rPr lang="en-US" sz="1200" dirty="0"/>
              <a:t>. </a:t>
            </a:r>
            <a:r>
              <a:rPr lang="en-US" sz="1200" i="1" dirty="0"/>
              <a:t>The impact of the GDPR on artificial intelligence.</a:t>
            </a:r>
            <a:r>
              <a:rPr lang="en-US" sz="1200" dirty="0"/>
              <a:t> European Parliamentary Research Service (EPRS) Briefing. Available at: https://www.europarl.europa.eu/thinktank/en/document/EPRS_BRI(2020)646353 (Accessed: 5 October 2025).</a:t>
            </a:r>
          </a:p>
          <a:p>
            <a:r>
              <a:rPr lang="en-US" sz="1200" b="1" dirty="0" err="1"/>
              <a:t>Kapardis</a:t>
            </a:r>
            <a:r>
              <a:rPr lang="en-US" sz="1200" b="1" dirty="0"/>
              <a:t>, A. (2024)</a:t>
            </a:r>
            <a:r>
              <a:rPr lang="en-US" sz="1200" dirty="0"/>
              <a:t>. ‘An overview of offender profiling’, </a:t>
            </a:r>
            <a:r>
              <a:rPr lang="en-US" sz="1200" i="1" dirty="0"/>
              <a:t>Offender Profiling.</a:t>
            </a:r>
            <a:r>
              <a:rPr lang="en-US" sz="1200" dirty="0"/>
              <a:t> </a:t>
            </a:r>
            <a:r>
              <a:rPr lang="en-US" sz="1200" i="1" dirty="0"/>
              <a:t>SAGE Journals.</a:t>
            </a:r>
            <a:r>
              <a:rPr lang="en-US" sz="1200" dirty="0"/>
              <a:t> Available at: https://journals.sagepub.com/home/opi (Accessed: 5 October 2025).</a:t>
            </a:r>
          </a:p>
          <a:p>
            <a:r>
              <a:rPr lang="en-US" sz="1200" b="1" dirty="0"/>
              <a:t>Kocsis, R.N. (2004)</a:t>
            </a:r>
            <a:r>
              <a:rPr lang="en-US" sz="1200" dirty="0"/>
              <a:t>. ‘Psychology of criminal profiling’, </a:t>
            </a:r>
            <a:r>
              <a:rPr lang="en-US" sz="1200" i="1" dirty="0" err="1"/>
              <a:t>Behavioural</a:t>
            </a:r>
            <a:r>
              <a:rPr lang="en-US" sz="1200" i="1" dirty="0"/>
              <a:t> Sciences &amp; Law,</a:t>
            </a:r>
            <a:r>
              <a:rPr lang="en-US" sz="1200" dirty="0"/>
              <a:t> 22(1), pp. 1–25. </a:t>
            </a:r>
            <a:r>
              <a:rPr lang="en-US" sz="1200" dirty="0" err="1"/>
              <a:t>doi</a:t>
            </a:r>
            <a:r>
              <a:rPr lang="en-US" sz="1200" dirty="0"/>
              <a:t>: 10.1002/bsl.574.</a:t>
            </a:r>
          </a:p>
        </p:txBody>
      </p:sp>
    </p:spTree>
    <p:extLst>
      <p:ext uri="{BB962C8B-B14F-4D97-AF65-F5344CB8AC3E}">
        <p14:creationId xmlns:p14="http://schemas.microsoft.com/office/powerpoint/2010/main" val="3420103573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TM03457515[[fn=View]]</Template>
  <TotalTime>358</TotalTime>
  <Words>833</Words>
  <Application>Microsoft Office PowerPoint</Application>
  <PresentationFormat>Widescreen</PresentationFormat>
  <Paragraphs>127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Aptos</vt:lpstr>
      <vt:lpstr>Arial</vt:lpstr>
      <vt:lpstr>Calibri</vt:lpstr>
      <vt:lpstr>Century Schoolbook</vt:lpstr>
      <vt:lpstr>Wingdings 2</vt:lpstr>
      <vt:lpstr>View</vt:lpstr>
      <vt:lpstr>Justice by Design:  Auditing Machine Learning in Suspect Profiling</vt:lpstr>
      <vt:lpstr>Profiling in Criminal Justice</vt:lpstr>
      <vt:lpstr>Research Problems </vt:lpstr>
      <vt:lpstr>Research Question </vt:lpstr>
      <vt:lpstr>Aim &amp; Objective </vt:lpstr>
      <vt:lpstr>Literature Foundations </vt:lpstr>
      <vt:lpstr>Key Debates </vt:lpstr>
      <vt:lpstr>Methodology </vt:lpstr>
      <vt:lpstr>PowerPoint Presentation</vt:lpstr>
      <vt:lpstr>Research Design Framework</vt:lpstr>
      <vt:lpstr>Artefact </vt:lpstr>
      <vt:lpstr>Ethics &amp; Risks </vt:lpstr>
      <vt:lpstr>Timeline </vt:lpstr>
      <vt:lpstr>Contribution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Matilda Nilsson</dc:creator>
  <cp:lastModifiedBy>Matilda Nilsson</cp:lastModifiedBy>
  <cp:revision>2</cp:revision>
  <dcterms:created xsi:type="dcterms:W3CDTF">2025-10-05T17:34:01Z</dcterms:created>
  <dcterms:modified xsi:type="dcterms:W3CDTF">2025-10-20T16:09:54Z</dcterms:modified>
</cp:coreProperties>
</file>